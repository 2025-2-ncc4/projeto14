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43200625" cx="288004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607">
          <p15:clr>
            <a:srgbClr val="A4A3A4"/>
          </p15:clr>
        </p15:guide>
        <p15:guide id="2" pos="9071">
          <p15:clr>
            <a:srgbClr val="A4A3A4"/>
          </p15:clr>
        </p15:guide>
      </p15:sldGuideLst>
    </p:ext>
    <p:ext uri="GoogleSlidesCustomDataVersion2">
      <go:slidesCustomData xmlns:go="http://customooxmlschemas.google.com/" r:id="rId7" roundtripDataSignature="AMtx7mgrUK3Lmqh8SHubZUM89J0P4jfO5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607" orient="horz"/>
        <p:guide pos="9071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48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286000" y="685800"/>
            <a:ext cx="228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2160880" y="13420305"/>
            <a:ext cx="24478668" cy="9259395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4319642" y="24480786"/>
            <a:ext cx="20161144" cy="11039316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399"/>
              <a:buFont typeface="Arial"/>
              <a:buNone/>
              <a:defRPr/>
            </a:lvl1pPr>
            <a:lvl2pPr lvl="1" algn="ctr">
              <a:spcBef>
                <a:spcPts val="2533"/>
              </a:spcBef>
              <a:spcAft>
                <a:spcPts val="0"/>
              </a:spcAft>
              <a:buClr>
                <a:schemeClr val="dk1"/>
              </a:buClr>
              <a:buSzPts val="12665"/>
              <a:buFont typeface="Arial"/>
              <a:buNone/>
              <a:defRPr/>
            </a:lvl2pPr>
            <a:lvl3pPr lvl="2" algn="ctr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799"/>
              <a:buFont typeface="Arial"/>
              <a:buNone/>
              <a:defRPr/>
            </a:lvl3pPr>
            <a:lvl4pPr lvl="3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4pPr>
            <a:lvl5pPr lvl="4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5pPr>
            <a:lvl6pPr lvl="5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6pPr>
            <a:lvl7pPr lvl="6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7pPr>
            <a:lvl8pPr lvl="7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8pPr>
            <a:lvl9pPr lvl="8" algn="ctr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1439175" y="10080573"/>
            <a:ext cx="25922076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2275166" y="27761258"/>
            <a:ext cx="24480784" cy="8580021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5333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2275166" y="18309267"/>
            <a:ext cx="24480784" cy="9451991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sz="2666"/>
            </a:lvl1pPr>
            <a:lvl2pPr indent="-2286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2pPr>
            <a:lvl3pPr indent="-228600" lvl="2" marL="1371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sz="2133"/>
            </a:lvl3pPr>
            <a:lvl4pPr indent="-228600" lvl="3" marL="18288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4pPr>
            <a:lvl5pPr indent="-228600" lvl="4" marL="22860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5pPr>
            <a:lvl6pPr indent="-228600" lvl="5" marL="2743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6pPr>
            <a:lvl7pPr indent="-228600" lvl="6" marL="32004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7pPr>
            <a:lvl8pPr indent="-228600" lvl="7" marL="36576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8pPr>
            <a:lvl9pPr indent="-228600" lvl="8" marL="41148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1439175" y="10080573"/>
            <a:ext cx="12859449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65645" lvl="0" marL="4572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•"/>
              <a:defRPr sz="3733"/>
            </a:lvl1pPr>
            <a:lvl2pPr indent="-431800" lvl="1" marL="9144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/>
            </a:lvl2pPr>
            <a:lvl3pPr indent="-397891" lvl="2" marL="1371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•"/>
              <a:defRPr sz="2666"/>
            </a:lvl3pPr>
            <a:lvl4pPr indent="-3810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4pPr>
            <a:lvl5pPr indent="-3810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5pPr>
            <a:lvl6pPr indent="-3810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6pPr>
            <a:lvl7pPr indent="-3810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7pPr>
            <a:lvl8pPr indent="-3810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8pPr>
            <a:lvl9pPr indent="-3810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14501801" y="10080573"/>
            <a:ext cx="12859449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65645" lvl="0" marL="4572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•"/>
              <a:defRPr sz="3733"/>
            </a:lvl1pPr>
            <a:lvl2pPr indent="-431800" lvl="1" marL="9144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/>
            </a:lvl2pPr>
            <a:lvl3pPr indent="-397891" lvl="2" marL="1371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•"/>
              <a:defRPr sz="2666"/>
            </a:lvl3pPr>
            <a:lvl4pPr indent="-3810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/>
            </a:lvl4pPr>
            <a:lvl5pPr indent="-3810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5pPr>
            <a:lvl6pPr indent="-3810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6pPr>
            <a:lvl7pPr indent="-3810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7pPr>
            <a:lvl8pPr indent="-3810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8pPr>
            <a:lvl9pPr indent="-3810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1439175" y="9669985"/>
            <a:ext cx="12726114" cy="4029689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1" sz="3200"/>
            </a:lvl1pPr>
            <a:lvl2pPr indent="-228600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b="1" sz="2666"/>
            </a:lvl2pPr>
            <a:lvl3pPr indent="-2286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3pPr>
            <a:lvl4pPr indent="-228600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4pPr>
            <a:lvl5pPr indent="-228600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5pPr>
            <a:lvl6pPr indent="-228600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6pPr>
            <a:lvl7pPr indent="-228600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7pPr>
            <a:lvl8pPr indent="-228600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8pPr>
            <a:lvl9pPr indent="-228600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1439175" y="13699675"/>
            <a:ext cx="12726114" cy="24891372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397891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64045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–"/>
              <a:defRPr sz="2133"/>
            </a:lvl4pPr>
            <a:lvl5pPr indent="-364045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5pPr>
            <a:lvl6pPr indent="-364045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6pPr>
            <a:lvl7pPr indent="-364045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7pPr>
            <a:lvl8pPr indent="-364045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8pPr>
            <a:lvl9pPr indent="-364045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14630904" y="9669985"/>
            <a:ext cx="12730346" cy="4029689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1" sz="3200"/>
            </a:lvl1pPr>
            <a:lvl2pPr indent="-228600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None/>
              <a:defRPr b="1" sz="2666"/>
            </a:lvl2pPr>
            <a:lvl3pPr indent="-2286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sz="2400"/>
            </a:lvl3pPr>
            <a:lvl4pPr indent="-228600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4pPr>
            <a:lvl5pPr indent="-228600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5pPr>
            <a:lvl6pPr indent="-228600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6pPr>
            <a:lvl7pPr indent="-228600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7pPr>
            <a:lvl8pPr indent="-228600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8pPr>
            <a:lvl9pPr indent="-228600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None/>
              <a:defRPr b="1" sz="2133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14630904" y="13699675"/>
            <a:ext cx="12730346" cy="24891372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1pPr>
            <a:lvl2pPr indent="-397891" lvl="1" marL="914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/>
            </a:lvl3pPr>
            <a:lvl4pPr indent="-364045" lvl="3" marL="1828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–"/>
              <a:defRPr sz="2133"/>
            </a:lvl4pPr>
            <a:lvl5pPr indent="-364045" lvl="4" marL="22860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5pPr>
            <a:lvl6pPr indent="-364045" lvl="5" marL="27432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6pPr>
            <a:lvl7pPr indent="-364045" lvl="6" marL="32004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7pPr>
            <a:lvl8pPr indent="-364045" lvl="7" marL="36576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8pPr>
            <a:lvl9pPr indent="-364045" lvl="8" marL="4114800" algn="l">
              <a:spcBef>
                <a:spcPts val="427"/>
              </a:spcBef>
              <a:spcAft>
                <a:spcPts val="0"/>
              </a:spcAft>
              <a:buClr>
                <a:schemeClr val="dk1"/>
              </a:buClr>
              <a:buSzPts val="2133"/>
              <a:buFont typeface="Arial"/>
              <a:buChar char="»"/>
              <a:defRPr sz="2133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1439175" y="1720661"/>
            <a:ext cx="9475273" cy="7318627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666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11259425" y="1720662"/>
            <a:ext cx="16101825" cy="36870385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499491" lvl="0" marL="457200" algn="l">
              <a:spcBef>
                <a:spcPts val="853"/>
              </a:spcBef>
              <a:spcAft>
                <a:spcPts val="0"/>
              </a:spcAft>
              <a:buClr>
                <a:schemeClr val="dk1"/>
              </a:buClr>
              <a:buSzPts val="4266"/>
              <a:buFont typeface="Arial"/>
              <a:buChar char="•"/>
              <a:defRPr sz="4266"/>
            </a:lvl1pPr>
            <a:lvl2pPr indent="-465645" lvl="1" marL="914400" algn="l">
              <a:spcBef>
                <a:spcPts val="747"/>
              </a:spcBef>
              <a:spcAft>
                <a:spcPts val="0"/>
              </a:spcAft>
              <a:buClr>
                <a:schemeClr val="dk1"/>
              </a:buClr>
              <a:buSzPts val="3733"/>
              <a:buFont typeface="Arial"/>
              <a:buChar char="–"/>
              <a:defRPr sz="3733"/>
            </a:lvl2pPr>
            <a:lvl3pPr indent="-431800" lvl="2" marL="13716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/>
            </a:lvl3pPr>
            <a:lvl4pPr indent="-397891" lvl="3" marL="18288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–"/>
              <a:defRPr sz="2666"/>
            </a:lvl4pPr>
            <a:lvl5pPr indent="-397891" lvl="4" marL="22860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5pPr>
            <a:lvl6pPr indent="-397891" lvl="5" marL="27432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6pPr>
            <a:lvl7pPr indent="-397891" lvl="6" marL="32004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7pPr>
            <a:lvl8pPr indent="-397890" lvl="7" marL="36576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8pPr>
            <a:lvl9pPr indent="-397890" lvl="8" marL="4114800" algn="l"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2666"/>
              <a:buFont typeface="Arial"/>
              <a:buChar char="»"/>
              <a:defRPr sz="2666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1439175" y="9039287"/>
            <a:ext cx="9475273" cy="29551759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2pPr>
            <a:lvl3pPr indent="-228600" lvl="2" marL="1371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None/>
              <a:defRPr sz="1333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5644529" y="30239601"/>
            <a:ext cx="17280678" cy="3570424"/>
          </a:xfrm>
          <a:prstGeom prst="rect">
            <a:avLst/>
          </a:prstGeom>
          <a:noFill/>
          <a:ln>
            <a:noFill/>
          </a:ln>
        </p:spPr>
        <p:txBody>
          <a:bodyPr anchorCtr="0" anchor="b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666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5644529" y="3860375"/>
            <a:ext cx="17280678" cy="2591996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5644529" y="33810024"/>
            <a:ext cx="17280678" cy="5070974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228600" lvl="0" marL="457200" algn="l">
              <a:spcBef>
                <a:spcPts val="373"/>
              </a:spcBef>
              <a:spcAft>
                <a:spcPts val="0"/>
              </a:spcAft>
              <a:buClr>
                <a:schemeClr val="dk1"/>
              </a:buClr>
              <a:buSzPts val="1866"/>
              <a:buFont typeface="Arial"/>
              <a:buNone/>
              <a:defRPr sz="1866"/>
            </a:lvl1pPr>
            <a:lvl2pPr indent="-228600" lvl="1" marL="914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2pPr>
            <a:lvl3pPr indent="-228600" lvl="2" marL="1371600" algn="l">
              <a:spcBef>
                <a:spcPts val="267"/>
              </a:spcBef>
              <a:spcAft>
                <a:spcPts val="0"/>
              </a:spcAft>
              <a:buClr>
                <a:schemeClr val="dk1"/>
              </a:buClr>
              <a:buSzPts val="1333"/>
              <a:buFont typeface="Arial"/>
              <a:buNone/>
              <a:defRPr sz="1333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144977" y="11374771"/>
            <a:ext cx="28510473" cy="25922076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is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5690032" y="16919828"/>
            <a:ext cx="36861919" cy="6480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7372595" y="10540898"/>
            <a:ext cx="36861919" cy="19238379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62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1439175" y="1729128"/>
            <a:ext cx="25922076" cy="7200106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9865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1439175" y="10080573"/>
            <a:ext cx="25922076" cy="2851047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-1142936" lvl="0" marL="457200" marR="0" rtl="0" algn="l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399"/>
              <a:buFont typeface="Arial"/>
              <a:buChar char="•"/>
              <a:defRPr b="0" i="0" sz="143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1032827" lvl="1" marL="914400" marR="0" rtl="0" algn="l">
              <a:spcBef>
                <a:spcPts val="2533"/>
              </a:spcBef>
              <a:spcAft>
                <a:spcPts val="0"/>
              </a:spcAft>
              <a:buClr>
                <a:schemeClr val="dk1"/>
              </a:buClr>
              <a:buSzPts val="12665"/>
              <a:buFont typeface="Arial"/>
              <a:buChar char="–"/>
              <a:defRPr b="0" i="0" sz="1266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914336" lvl="2" marL="1371600" marR="0" rtl="0" algn="l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799"/>
              <a:buFont typeface="Arial"/>
              <a:buChar char="•"/>
              <a:defRPr b="0" i="0" sz="10799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804291" lvl="3" marL="18288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–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804291" lvl="4" marL="22860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804291" lvl="5" marL="27432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804291" lvl="6" marL="32004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804291" lvl="7" marL="36576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804291" lvl="8" marL="4114800" marR="0" rtl="0" algn="l">
              <a:spcBef>
                <a:spcPts val="1813"/>
              </a:spcBef>
              <a:spcAft>
                <a:spcPts val="0"/>
              </a:spcAft>
              <a:buClr>
                <a:schemeClr val="dk1"/>
              </a:buClr>
              <a:buSzPts val="9066"/>
              <a:buFont typeface="Arial"/>
              <a:buChar char="»"/>
              <a:defRPr b="0" i="0" sz="90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1439175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9839300" y="39340264"/>
            <a:ext cx="9121828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132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20639458" y="39340264"/>
            <a:ext cx="6721792" cy="3001103"/>
          </a:xfrm>
          <a:prstGeom prst="rect">
            <a:avLst/>
          </a:prstGeom>
          <a:noFill/>
          <a:ln>
            <a:noFill/>
          </a:ln>
        </p:spPr>
        <p:txBody>
          <a:bodyPr anchorCtr="0" anchor="t" bIns="154300" lIns="308600" spcFirstLastPara="1" rIns="308600" wrap="square" tIns="1543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62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4.png"/><Relationship Id="rId10" Type="http://schemas.openxmlformats.org/officeDocument/2006/relationships/image" Target="../media/image7.png"/><Relationship Id="rId13" Type="http://schemas.openxmlformats.org/officeDocument/2006/relationships/image" Target="../media/image2.jpg"/><Relationship Id="rId1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Relationship Id="rId4" Type="http://schemas.openxmlformats.org/officeDocument/2006/relationships/image" Target="../media/image6.png"/><Relationship Id="rId9" Type="http://schemas.openxmlformats.org/officeDocument/2006/relationships/image" Target="../media/image12.png"/><Relationship Id="rId15" Type="http://schemas.openxmlformats.org/officeDocument/2006/relationships/image" Target="../media/image11.png"/><Relationship Id="rId14" Type="http://schemas.openxmlformats.org/officeDocument/2006/relationships/image" Target="../media/image4.png"/><Relationship Id="rId17" Type="http://schemas.openxmlformats.org/officeDocument/2006/relationships/image" Target="../media/image10.png"/><Relationship Id="rId16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1.png"/><Relationship Id="rId8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734" y="-87821"/>
            <a:ext cx="28847660" cy="4328846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/>
          <p:nvPr/>
        </p:nvSpPr>
        <p:spPr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Bruno Ribeiro; Gabriel Davanço; Guilherme Melo; Kauan Rocha; Ricardo Liyudi</a:t>
            </a:r>
            <a:endParaRPr b="1" i="0" sz="3733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689768" y="5051879"/>
            <a:ext cx="13284900" cy="84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Sobre a equipe</a:t>
            </a:r>
            <a:endParaRPr/>
          </a:p>
          <a:p>
            <a:pPr indent="-3746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pt-BR" sz="2300">
                <a:solidFill>
                  <a:schemeClr val="dk1"/>
                </a:solidFill>
              </a:rPr>
              <a:t>Bruno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Desenvolvedor </a:t>
            </a:r>
            <a:r>
              <a:rPr b="1" lang="pt-BR" sz="2300">
                <a:solidFill>
                  <a:schemeClr val="dk1"/>
                </a:solidFill>
              </a:rPr>
              <a:t>Fullstack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Foco em </a:t>
            </a:r>
            <a:r>
              <a:rPr b="1" lang="pt-BR" sz="2300">
                <a:solidFill>
                  <a:schemeClr val="dk1"/>
                </a:solidFill>
              </a:rPr>
              <a:t>Banco de Dados</a:t>
            </a:r>
            <a:r>
              <a:rPr lang="pt-BR" sz="2300">
                <a:solidFill>
                  <a:schemeClr val="dk1"/>
                </a:solidFill>
              </a:rPr>
              <a:t> e </a:t>
            </a:r>
            <a:r>
              <a:rPr b="1" lang="pt-BR" sz="2300">
                <a:solidFill>
                  <a:schemeClr val="dk1"/>
                </a:solidFill>
              </a:rPr>
              <a:t>Front</a:t>
            </a:r>
            <a:r>
              <a:rPr b="1" lang="pt-BR" sz="2300">
                <a:solidFill>
                  <a:schemeClr val="dk1"/>
                </a:solidFill>
              </a:rPr>
              <a:t>end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Participação nas entregas de </a:t>
            </a:r>
            <a:r>
              <a:rPr b="1" lang="pt-BR" sz="2300">
                <a:solidFill>
                  <a:schemeClr val="dk1"/>
                </a:solidFill>
              </a:rPr>
              <a:t>Contabilidade e Finanças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pt-BR" sz="2300">
                <a:solidFill>
                  <a:schemeClr val="dk1"/>
                </a:solidFill>
              </a:rPr>
              <a:t>Gabriel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Desenvolvedor </a:t>
            </a:r>
            <a:r>
              <a:rPr b="1" lang="pt-BR" sz="2300">
                <a:solidFill>
                  <a:schemeClr val="dk1"/>
                </a:solidFill>
              </a:rPr>
              <a:t>Fullstack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Ênfase em </a:t>
            </a:r>
            <a:r>
              <a:rPr b="1" lang="pt-BR" sz="2300">
                <a:solidFill>
                  <a:schemeClr val="dk1"/>
                </a:solidFill>
              </a:rPr>
              <a:t>Frontend</a:t>
            </a:r>
            <a:r>
              <a:rPr lang="pt-BR" sz="2300">
                <a:solidFill>
                  <a:schemeClr val="dk1"/>
                </a:solidFill>
              </a:rPr>
              <a:t> e </a:t>
            </a:r>
            <a:r>
              <a:rPr b="1" lang="pt-BR" sz="2300">
                <a:solidFill>
                  <a:schemeClr val="dk1"/>
                </a:solidFill>
              </a:rPr>
              <a:t>Análises de Estatística Inferencial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Contribuição nas entregas de </a:t>
            </a:r>
            <a:r>
              <a:rPr b="1" lang="pt-BR" sz="2300">
                <a:solidFill>
                  <a:schemeClr val="dk1"/>
                </a:solidFill>
              </a:rPr>
              <a:t>Engenharia de Software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pt-BR" sz="2300">
                <a:solidFill>
                  <a:schemeClr val="dk1"/>
                </a:solidFill>
              </a:rPr>
              <a:t>Guilherme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Responsável pelo </a:t>
            </a:r>
            <a:r>
              <a:rPr b="1" lang="pt-BR" sz="2300">
                <a:solidFill>
                  <a:schemeClr val="dk1"/>
                </a:solidFill>
              </a:rPr>
              <a:t>Backend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Tratamento e integração de </a:t>
            </a:r>
            <a:r>
              <a:rPr b="1" lang="pt-BR" sz="2300">
                <a:solidFill>
                  <a:schemeClr val="dk1"/>
                </a:solidFill>
              </a:rPr>
              <a:t>dados simulados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Participação nas entregas de </a:t>
            </a:r>
            <a:r>
              <a:rPr b="1" lang="pt-BR" sz="2300">
                <a:solidFill>
                  <a:schemeClr val="dk1"/>
                </a:solidFill>
              </a:rPr>
              <a:t>Ciência de Dados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pt-BR" sz="2300">
                <a:solidFill>
                  <a:schemeClr val="dk1"/>
                </a:solidFill>
              </a:rPr>
              <a:t>Kauan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Responsável pelo </a:t>
            </a:r>
            <a:r>
              <a:rPr b="1" lang="pt-BR" sz="2300">
                <a:solidFill>
                  <a:schemeClr val="dk1"/>
                </a:solidFill>
              </a:rPr>
              <a:t>Frontend</a:t>
            </a:r>
            <a:r>
              <a:rPr lang="pt-BR" sz="2300">
                <a:solidFill>
                  <a:schemeClr val="dk1"/>
                </a:solidFill>
              </a:rPr>
              <a:t> e </a:t>
            </a:r>
            <a:r>
              <a:rPr b="1" lang="pt-BR" sz="2300">
                <a:solidFill>
                  <a:schemeClr val="dk1"/>
                </a:solidFill>
              </a:rPr>
              <a:t>Design de Interface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Aplicação de princípios de </a:t>
            </a:r>
            <a:r>
              <a:rPr b="1" lang="pt-BR" sz="2300">
                <a:solidFill>
                  <a:schemeClr val="dk1"/>
                </a:solidFill>
              </a:rPr>
              <a:t>usabilidade</a:t>
            </a:r>
            <a:r>
              <a:rPr lang="pt-BR" sz="2300">
                <a:solidFill>
                  <a:schemeClr val="dk1"/>
                </a:solidFill>
              </a:rPr>
              <a:t> e </a:t>
            </a:r>
            <a:r>
              <a:rPr b="1" lang="pt-BR" sz="2300">
                <a:solidFill>
                  <a:schemeClr val="dk1"/>
                </a:solidFill>
              </a:rPr>
              <a:t>visualização contábil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Apoio nas entregas de </a:t>
            </a:r>
            <a:r>
              <a:rPr b="1" lang="pt-BR" sz="2300">
                <a:solidFill>
                  <a:schemeClr val="dk1"/>
                </a:solidFill>
              </a:rPr>
              <a:t>Contabilidade e Finanças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pt-BR" sz="2300">
                <a:solidFill>
                  <a:schemeClr val="dk1"/>
                </a:solidFill>
              </a:rPr>
              <a:t>Ricardo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Responsável pela </a:t>
            </a:r>
            <a:r>
              <a:rPr b="1" lang="pt-BR" sz="2300">
                <a:solidFill>
                  <a:schemeClr val="dk1"/>
                </a:solidFill>
              </a:rPr>
              <a:t>definição de indicadores estratégicos e financeiros</a:t>
            </a:r>
            <a:endParaRPr b="1" sz="2300">
              <a:solidFill>
                <a:schemeClr val="dk1"/>
              </a:solidFill>
            </a:endParaRPr>
          </a:p>
          <a:p>
            <a:pPr indent="-374650" lvl="1" marL="9144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○"/>
            </a:pPr>
            <a:r>
              <a:rPr lang="pt-BR" sz="2300">
                <a:solidFill>
                  <a:schemeClr val="dk1"/>
                </a:solidFill>
              </a:rPr>
              <a:t>Contribuição nas atividades de </a:t>
            </a:r>
            <a:r>
              <a:rPr b="1" lang="pt-BR" sz="2300">
                <a:solidFill>
                  <a:schemeClr val="dk1"/>
                </a:solidFill>
              </a:rPr>
              <a:t>Engenharia de Software</a:t>
            </a:r>
            <a:endParaRPr b="1" sz="23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grupo manteve uma comunicação constante e multidisciplinar, garantindo a </a:t>
            </a:r>
            <a:r>
              <a:rPr b="1" i="0" lang="pt-BR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coerência entre o design, a análise de dados e os objetivos empresariais</a:t>
            </a:r>
            <a:r>
              <a:rPr b="0" i="0" lang="pt-BR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 projeto.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666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99"/>
              <a:buFont typeface="Arial"/>
              <a:buNone/>
            </a:pPr>
            <a:r>
              <a:t/>
            </a:r>
            <a:endParaRPr b="0" i="0" sz="8099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>
            <p:ph type="ctrTitle"/>
          </p:nvPr>
        </p:nvSpPr>
        <p:spPr>
          <a:xfrm>
            <a:off x="533295" y="1091039"/>
            <a:ext cx="27924315" cy="2258359"/>
          </a:xfrm>
          <a:prstGeom prst="rect">
            <a:avLst/>
          </a:prstGeom>
          <a:noFill/>
          <a:ln>
            <a:noFill/>
          </a:ln>
        </p:spPr>
        <p:txBody>
          <a:bodyPr anchorCtr="0" anchor="ctr" bIns="154300" lIns="308600" spcFirstLastPara="1" rIns="308600" wrap="square" tIns="15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866"/>
              <a:t>PicStats</a:t>
            </a:r>
            <a:endParaRPr b="1" sz="5866"/>
          </a:p>
        </p:txBody>
      </p:sp>
      <p:sp>
        <p:nvSpPr>
          <p:cNvPr id="94" name="Google Shape;94;p1"/>
          <p:cNvSpPr/>
          <p:nvPr/>
        </p:nvSpPr>
        <p:spPr>
          <a:xfrm>
            <a:off x="1540883" y="288300"/>
            <a:ext cx="25809904" cy="1619083"/>
          </a:xfrm>
          <a:prstGeom prst="rect">
            <a:avLst/>
          </a:prstGeom>
          <a:noFill/>
          <a:ln>
            <a:noFill/>
          </a:ln>
        </p:spPr>
        <p:txBody>
          <a:bodyPr anchorCtr="0" anchor="ctr" bIns="205700" lIns="411425" spcFirstLastPara="1" rIns="411425" wrap="square" tIns="20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7999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Semana de Tecnologia FECAP 2025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14625135" y="4996301"/>
            <a:ext cx="13284900" cy="71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Problema a ser tratado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pt-BR" sz="2400">
                <a:solidFill>
                  <a:schemeClr val="dk1"/>
                </a:solidFill>
              </a:rPr>
              <a:t>A Startup </a:t>
            </a:r>
            <a:r>
              <a:rPr b="1" lang="pt-BR" sz="2400">
                <a:solidFill>
                  <a:schemeClr val="dk1"/>
                </a:solidFill>
              </a:rPr>
              <a:t>PicMoney </a:t>
            </a:r>
            <a:r>
              <a:rPr lang="pt-BR" sz="2400">
                <a:solidFill>
                  <a:schemeClr val="dk1"/>
                </a:solidFill>
              </a:rPr>
              <a:t>planeja lançar um </a:t>
            </a:r>
            <a:r>
              <a:rPr b="1" lang="pt-BR" sz="2400">
                <a:solidFill>
                  <a:schemeClr val="dk1"/>
                </a:solidFill>
              </a:rPr>
              <a:t>aplicativo</a:t>
            </a:r>
            <a:r>
              <a:rPr lang="pt-BR" sz="2400">
                <a:solidFill>
                  <a:schemeClr val="dk1"/>
                </a:solidFill>
              </a:rPr>
              <a:t> que utiliza </a:t>
            </a:r>
            <a:r>
              <a:rPr b="1" lang="pt-BR" sz="2400">
                <a:solidFill>
                  <a:schemeClr val="dk1"/>
                </a:solidFill>
              </a:rPr>
              <a:t>realidade aumentada</a:t>
            </a:r>
            <a:r>
              <a:rPr lang="pt-BR" sz="2400">
                <a:solidFill>
                  <a:schemeClr val="dk1"/>
                </a:solidFill>
              </a:rPr>
              <a:t> para </a:t>
            </a:r>
            <a:r>
              <a:rPr b="1" lang="pt-BR" sz="2400">
                <a:solidFill>
                  <a:schemeClr val="dk1"/>
                </a:solidFill>
              </a:rPr>
              <a:t>distribuição de cupons</a:t>
            </a:r>
            <a:r>
              <a:rPr lang="pt-BR" sz="2400">
                <a:solidFill>
                  <a:schemeClr val="dk1"/>
                </a:solidFill>
              </a:rPr>
              <a:t>, mas ainda </a:t>
            </a:r>
            <a:r>
              <a:rPr b="1" lang="pt-BR" sz="2400">
                <a:solidFill>
                  <a:schemeClr val="dk1"/>
                </a:solidFill>
              </a:rPr>
              <a:t>possuem</a:t>
            </a:r>
            <a:r>
              <a:rPr lang="pt-BR" sz="2400">
                <a:solidFill>
                  <a:schemeClr val="dk1"/>
                </a:solidFill>
              </a:rPr>
              <a:t> os seguintes</a:t>
            </a:r>
            <a:r>
              <a:rPr b="1" lang="pt-BR" sz="2400">
                <a:solidFill>
                  <a:schemeClr val="dk1"/>
                </a:solidFill>
              </a:rPr>
              <a:t> problemas centrais: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pt-BR" sz="2400">
                <a:solidFill>
                  <a:schemeClr val="dk1"/>
                </a:solidFill>
              </a:rPr>
              <a:t>Ausência de um ambiente unificado</a:t>
            </a:r>
            <a:r>
              <a:rPr lang="pt-BR" sz="2400">
                <a:solidFill>
                  <a:schemeClr val="dk1"/>
                </a:solidFill>
              </a:rPr>
              <a:t> de análise de dados.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pt-BR" sz="2400">
                <a:solidFill>
                  <a:schemeClr val="dk1"/>
                </a:solidFill>
              </a:rPr>
              <a:t>Dependência</a:t>
            </a:r>
            <a:r>
              <a:rPr lang="pt-BR" sz="2400">
                <a:solidFill>
                  <a:schemeClr val="dk1"/>
                </a:solidFill>
              </a:rPr>
              <a:t> de métricas dispersas, difíceis de interpretar.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pt-BR" sz="2400">
                <a:solidFill>
                  <a:schemeClr val="dk1"/>
                </a:solidFill>
              </a:rPr>
              <a:t>Falta de visibilidade</a:t>
            </a:r>
            <a:r>
              <a:rPr lang="pt-BR" sz="2400">
                <a:solidFill>
                  <a:schemeClr val="dk1"/>
                </a:solidFill>
              </a:rPr>
              <a:t> para acompanhamento de campanhas e parcerias.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pt-BR" sz="2400">
                <a:solidFill>
                  <a:schemeClr val="dk1"/>
                </a:solidFill>
              </a:rPr>
              <a:t>Dificuldade</a:t>
            </a:r>
            <a:r>
              <a:rPr lang="pt-BR" sz="2400">
                <a:solidFill>
                  <a:schemeClr val="dk1"/>
                </a:solidFill>
              </a:rPr>
              <a:t> na projeção de resultados e tomada de decisão executiva.</a:t>
            </a:r>
            <a:endParaRPr sz="24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 acordo com levantamentos de mercado (fonte: </a:t>
            </a:r>
            <a:r>
              <a:rPr b="0" i="1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GlobeNewswire, 2021; Analytics Insight, “Data Science Challenges in Startups vs. Enterprises 2024”</a:t>
            </a: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pt-BR" sz="2400">
                <a:solidFill>
                  <a:schemeClr val="dk1"/>
                </a:solidFill>
              </a:rPr>
              <a:t>:</a:t>
            </a: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</a:rPr>
              <a:t>60% </a:t>
            </a:r>
            <a:r>
              <a:rPr lang="pt-BR" sz="2400">
                <a:solidFill>
                  <a:schemeClr val="dk1"/>
                </a:solidFill>
              </a:rPr>
              <a:t>das startups relatam</a:t>
            </a:r>
            <a:r>
              <a:rPr b="1" lang="pt-BR" sz="2400">
                <a:solidFill>
                  <a:schemeClr val="dk1"/>
                </a:solidFill>
              </a:rPr>
              <a:t> dificuldade na coleta de dados </a:t>
            </a:r>
            <a:r>
              <a:rPr lang="pt-BR" sz="2400">
                <a:solidFill>
                  <a:schemeClr val="dk1"/>
                </a:solidFill>
              </a:rPr>
              <a:t>nos primeiros anos;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pt-BR" sz="2400">
                <a:solidFill>
                  <a:schemeClr val="dk1"/>
                </a:solidFill>
              </a:rPr>
              <a:t>70% </a:t>
            </a:r>
            <a:r>
              <a:rPr lang="pt-BR" sz="2400">
                <a:solidFill>
                  <a:schemeClr val="dk1"/>
                </a:solidFill>
              </a:rPr>
              <a:t>das empresas são</a:t>
            </a:r>
            <a:r>
              <a:rPr b="1" lang="pt-BR" sz="2400">
                <a:solidFill>
                  <a:schemeClr val="dk1"/>
                </a:solidFill>
              </a:rPr>
              <a:t> surpreendidas por mudanças estratégicas, </a:t>
            </a:r>
            <a:r>
              <a:rPr lang="pt-BR" sz="2400">
                <a:solidFill>
                  <a:schemeClr val="dk1"/>
                </a:solidFill>
              </a:rPr>
              <a:t>por não conseguirem</a:t>
            </a:r>
            <a:r>
              <a:rPr b="1" lang="pt-BR" sz="2400">
                <a:solidFill>
                  <a:schemeClr val="dk1"/>
                </a:solidFill>
              </a:rPr>
              <a:t> utilizar adequadamente </a:t>
            </a:r>
            <a:r>
              <a:rPr lang="pt-BR" sz="2400">
                <a:solidFill>
                  <a:schemeClr val="dk1"/>
                </a:solidFill>
              </a:rPr>
              <a:t>os dados que coletam.</a:t>
            </a:r>
            <a:endParaRPr sz="24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dk1"/>
                </a:solidFill>
              </a:rPr>
              <a:t>Esses fatores reforçam a necessidade de uma solução de </a:t>
            </a:r>
            <a:r>
              <a:rPr b="1" lang="pt-BR" sz="2400">
                <a:solidFill>
                  <a:schemeClr val="dk1"/>
                </a:solidFill>
              </a:rPr>
              <a:t>dashboard integrada desde os estágios iniciais.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666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2666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pt-BR" sz="26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630353" y="33543418"/>
            <a:ext cx="13318800" cy="41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Solução proposta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pt-BR" sz="3733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pt-BR" sz="2666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0" i="0" lang="pt-BR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pt-BR" sz="2400">
                <a:solidFill>
                  <a:schemeClr val="dk1"/>
                </a:solidFill>
              </a:rPr>
              <a:t>Foi desenvolvido um </a:t>
            </a:r>
            <a:r>
              <a:rPr b="1" lang="pt-BR" sz="2400">
                <a:solidFill>
                  <a:schemeClr val="dk1"/>
                </a:solidFill>
              </a:rPr>
              <a:t>Dashboard Interativo</a:t>
            </a:r>
            <a:r>
              <a:rPr lang="pt-BR" sz="2400">
                <a:solidFill>
                  <a:schemeClr val="dk1"/>
                </a:solidFill>
              </a:rPr>
              <a:t>, que c</a:t>
            </a:r>
            <a:r>
              <a:rPr b="1" lang="pt-BR" sz="2400">
                <a:solidFill>
                  <a:schemeClr val="dk1"/>
                </a:solidFill>
              </a:rPr>
              <a:t>entraliza dados estratégicos</a:t>
            </a:r>
            <a:r>
              <a:rPr lang="pt-BR" sz="2400">
                <a:solidFill>
                  <a:schemeClr val="dk1"/>
                </a:solidFill>
              </a:rPr>
              <a:t> da PicMoney e traduz </a:t>
            </a:r>
            <a:r>
              <a:rPr b="1" lang="pt-BR" sz="2400">
                <a:solidFill>
                  <a:schemeClr val="dk1"/>
                </a:solidFill>
              </a:rPr>
              <a:t>métricas operacionais e financeiras</a:t>
            </a:r>
            <a:r>
              <a:rPr lang="pt-BR" sz="2400">
                <a:solidFill>
                  <a:schemeClr val="dk1"/>
                </a:solidFill>
              </a:rPr>
              <a:t> em visualizações </a:t>
            </a:r>
            <a:r>
              <a:rPr b="1" lang="pt-BR" sz="2400">
                <a:solidFill>
                  <a:schemeClr val="dk1"/>
                </a:solidFill>
              </a:rPr>
              <a:t>úteis à tomada de decisão</a:t>
            </a:r>
            <a:r>
              <a:rPr lang="pt-BR" sz="2400">
                <a:solidFill>
                  <a:schemeClr val="dk1"/>
                </a:solidFill>
              </a:rPr>
              <a:t>. A ferramenta </a:t>
            </a:r>
            <a:r>
              <a:rPr b="1" lang="pt-BR" sz="2400">
                <a:solidFill>
                  <a:schemeClr val="dk1"/>
                </a:solidFill>
              </a:rPr>
              <a:t>já antecipa o momento de lançamento do aplicativo</a:t>
            </a:r>
            <a:r>
              <a:rPr lang="pt-BR" sz="2400">
                <a:solidFill>
                  <a:schemeClr val="dk1"/>
                </a:solidFill>
              </a:rPr>
              <a:t>, permitindo que </a:t>
            </a:r>
            <a:r>
              <a:rPr b="1" lang="pt-BR" sz="2400">
                <a:solidFill>
                  <a:schemeClr val="dk1"/>
                </a:solidFill>
              </a:rPr>
              <a:t>CEO e CFO </a:t>
            </a:r>
            <a:r>
              <a:rPr lang="pt-BR" sz="2400">
                <a:solidFill>
                  <a:schemeClr val="dk1"/>
                </a:solidFill>
              </a:rPr>
              <a:t>utilizem das seguintes funcionalidades:</a:t>
            </a:r>
            <a:endParaRPr sz="2400">
              <a:solidFill>
                <a:schemeClr val="dk1"/>
              </a:solidFill>
            </a:endParaRPr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Visualiz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ação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KPIs 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segmentados por tipo de executivo (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financeiro e operacional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);</a:t>
            </a:r>
            <a:endParaRPr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Filtr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os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dinâmicos 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por período, parceiro e campanha;</a:t>
            </a:r>
            <a:endParaRPr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Alertas inteligentes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valores fora do padrão;</a:t>
            </a:r>
            <a:endParaRPr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Mapas de calor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 gráficos interativos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análise visual;</a:t>
            </a:r>
            <a:endParaRPr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●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Exportação de relatórios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simulação de projeções financeiras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26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12740" y="3107306"/>
            <a:ext cx="29592614" cy="1355109"/>
          </a:xfrm>
          <a:prstGeom prst="rect">
            <a:avLst/>
          </a:prstGeom>
          <a:noFill/>
          <a:ln>
            <a:noFill/>
          </a:ln>
        </p:spPr>
        <p:txBody>
          <a:bodyPr anchorCtr="0" anchor="ctr" bIns="205700" lIns="411425" spcFirstLastPara="1" rIns="411425" wrap="square" tIns="20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666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Professores: Eduardo Savino; Lucy Mari; Mauricio Lopes; Rodnil da Silva</a:t>
            </a:r>
            <a:endParaRPr b="1" sz="5866" u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14646784" y="33543418"/>
            <a:ext cx="13318910" cy="8648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3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Futuro do projeto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73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26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projeto prevê evoluções técnicas e estratégicas para viabilizar o uso real do dashboard junto à PicMoney.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Próximas etapas: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Integração com dados reais da PicMoney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substituindo os atuais dados simulados.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Autenticação por níveis de acesso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garantindo controle diferenciado para CEO, CFO e demais gestores.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Implementação de uma IA de assessoria executiva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capaz de gerar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insights automáticos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previsões financeiras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recomendações de estratégias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com base no histórico da empresa.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Adoção de segurança avançada baseada em IA e Blockchain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aplicando tecnologias de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criptografia assimétrica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monitoramento preditivo de ameaças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proteger os dados da plataforma.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Versão mobile dedicada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 Android e iOS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Investimento estimado: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R$ 20.000,00</a:t>
            </a:r>
            <a:b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Recursos necessários: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Servidores em nuvem (AWS/Azure), APIs reais da PicMoney, integração de IA (OpenAI/TensorFlow) e módulos de segurança avançada (HashiCorp Vault, OWASP).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 objetivo é transformar o protótipo acadêmico em uma </a:t>
            </a:r>
            <a:r>
              <a:rPr b="1"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solução corporativa escalável</a:t>
            </a:r>
            <a:r>
              <a:rPr lang="pt-BR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segura e orientada por dados.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666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7965802" y="13097819"/>
            <a:ext cx="12868819" cy="15694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58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Imagens e ferramentas do Projeto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733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2666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pic>
        <p:nvPicPr>
          <p:cNvPr descr="Uma imagem contendo óculos&#10;&#10;O conteúdo gerado por IA pode estar incorreto." id="100" name="Google Shape;10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752" y="40356014"/>
            <a:ext cx="3095947" cy="311529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óculos, caneca&#10;&#10;O conteúdo gerado por IA pode estar incorreto." id="101" name="Google Shape;10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5801752" y="40382747"/>
            <a:ext cx="3095945" cy="31055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ma imagem contendo Ícone&#10;&#10;O conteúdo gerado por IA pode estar incorreto." id="102" name="Google Shape;102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3466347" y="15123681"/>
            <a:ext cx="2252785" cy="16895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103" name="Google Shape;103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693741" y="15027978"/>
            <a:ext cx="2090947" cy="209094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O conteúdo gerado por IA pode estar incorreto." id="104" name="Google Shape;104;p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6689522" y="17355310"/>
            <a:ext cx="3206433" cy="15167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orma&#10;&#10;O conteúdo gerado por IA pode estar incorreto." id="105" name="Google Shape;105;p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8435204" y="14412134"/>
            <a:ext cx="3244379" cy="32443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O conteúdo gerado por IA pode estar incorreto." id="106" name="Google Shape;106;p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3206482" y="17084338"/>
            <a:ext cx="3244379" cy="1898133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"/>
          <p:cNvSpPr/>
          <p:nvPr/>
        </p:nvSpPr>
        <p:spPr>
          <a:xfrm>
            <a:off x="0" y="0"/>
            <a:ext cx="28800425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32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152400" y="152400"/>
            <a:ext cx="28800425" cy="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132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9744" y="16367570"/>
            <a:ext cx="12654390" cy="63223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3099275" y="19269888"/>
            <a:ext cx="14947160" cy="67377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nterface gráfica do usuário, Aplicativo, Site&#10;&#10;O conteúdo gerado por IA pode estar incorreto." id="111" name="Google Shape;111;p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540883" y="24443496"/>
            <a:ext cx="8326619" cy="71519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3081241" y="25975115"/>
            <a:ext cx="14855619" cy="697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"/>
          <p:cNvSpPr txBox="1"/>
          <p:nvPr/>
        </p:nvSpPr>
        <p:spPr>
          <a:xfrm>
            <a:off x="96584" y="22880841"/>
            <a:ext cx="3874922" cy="3539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Inspiração de Dashboard</a:t>
            </a:r>
            <a:endParaRPr sz="2666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"/>
          <p:cNvSpPr txBox="1"/>
          <p:nvPr/>
        </p:nvSpPr>
        <p:spPr>
          <a:xfrm>
            <a:off x="13081241" y="33008483"/>
            <a:ext cx="3874922" cy="3539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Protótipo pagina scroll-down inicial </a:t>
            </a:r>
            <a:endParaRPr sz="2666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"/>
          <p:cNvSpPr txBox="1"/>
          <p:nvPr/>
        </p:nvSpPr>
        <p:spPr>
          <a:xfrm>
            <a:off x="1668970" y="31641387"/>
            <a:ext cx="3874922" cy="3539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Pagina de login genérica</a:t>
            </a:r>
            <a:endParaRPr sz="2666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6" name="Google Shape;116;p1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2181437" y="15243545"/>
            <a:ext cx="1431922" cy="14319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20222522" y="17396847"/>
            <a:ext cx="4010342" cy="16229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24407787" y="15965448"/>
            <a:ext cx="2100064" cy="21000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2006-11-04T15:46:42Z</dcterms:created>
  <dc:creator>Jr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