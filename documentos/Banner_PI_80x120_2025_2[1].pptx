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0" r:id="rId5"/>
  </p:sldIdLst>
  <p:sldSz cx="28800425" cy="43200638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0"/>
      </a:spcBef>
      <a:spcAft>
        <a:spcPct val="0"/>
      </a:spcAft>
      <a:defRPr sz="8132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6pPr>
    <a:lvl7pPr marL="3656960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7pPr>
    <a:lvl8pPr marL="4266453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8pPr>
    <a:lvl9pPr marL="4875947" algn="l" defTabSz="1218987" rtl="0" eaLnBrk="1" latinLnBrk="0" hangingPunct="1">
      <a:defRPr sz="813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90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FF00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468" y="162"/>
      </p:cViewPr>
      <p:guideLst>
        <p:guide orient="horz" pos="13607"/>
        <p:guide pos="90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2137F34-5DDC-4C31-BA02-2277B1A4CE6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60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37B61E2-BDFA-4896-B4A2-5CC42FC61C0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853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035EDA-CF5D-4260-93D3-A3EA22A42075}" type="slidenum">
              <a:rPr lang="pt-BR">
                <a:latin typeface="Calibri" pitchFamily="34" charset="0"/>
                <a:ea typeface="ＭＳ Ｐゴシック" pitchFamily="34" charset="-128"/>
              </a:rPr>
              <a:pPr/>
              <a:t>1</a:t>
            </a:fld>
            <a:endParaRPr lang="pt-BR">
              <a:latin typeface="Calibri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852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60880" y="13420305"/>
            <a:ext cx="24478668" cy="925939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319642" y="24480786"/>
            <a:ext cx="20161144" cy="11039316"/>
          </a:xfrm>
        </p:spPr>
        <p:txBody>
          <a:bodyPr/>
          <a:lstStyle>
            <a:lvl1pPr marL="0" indent="0" algn="ctr">
              <a:buNone/>
              <a:defRPr/>
            </a:lvl1pPr>
            <a:lvl2pPr marL="609539" indent="0" algn="ctr">
              <a:buNone/>
              <a:defRPr/>
            </a:lvl2pPr>
            <a:lvl3pPr marL="1219078" indent="0" algn="ctr">
              <a:buNone/>
              <a:defRPr/>
            </a:lvl3pPr>
            <a:lvl4pPr marL="1828617" indent="0" algn="ctr">
              <a:buNone/>
              <a:defRPr/>
            </a:lvl4pPr>
            <a:lvl5pPr marL="2438156" indent="0" algn="ctr">
              <a:buNone/>
              <a:defRPr/>
            </a:lvl5pPr>
            <a:lvl6pPr marL="3047695" indent="0" algn="ctr">
              <a:buNone/>
              <a:defRPr/>
            </a:lvl6pPr>
            <a:lvl7pPr marL="3657234" indent="0" algn="ctr">
              <a:buNone/>
              <a:defRPr/>
            </a:lvl7pPr>
            <a:lvl8pPr marL="4266773" indent="0" algn="ctr">
              <a:buNone/>
              <a:defRPr/>
            </a:lvl8pPr>
            <a:lvl9pPr marL="4876312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D650F0-8AAD-48EF-B3D3-2345F45EF8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C96D8B-5E5D-4756-AFBB-3EBE1D3ED4DA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5166" y="27761258"/>
            <a:ext cx="24480784" cy="8580021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275166" y="18309267"/>
            <a:ext cx="24480784" cy="9451991"/>
          </a:xfrm>
        </p:spPr>
        <p:txBody>
          <a:bodyPr anchor="b"/>
          <a:lstStyle>
            <a:lvl1pPr marL="0" indent="0">
              <a:buNone/>
              <a:defRPr sz="2666"/>
            </a:lvl1pPr>
            <a:lvl2pPr marL="609539" indent="0">
              <a:buNone/>
              <a:defRPr sz="2400"/>
            </a:lvl2pPr>
            <a:lvl3pPr marL="1219078" indent="0">
              <a:buNone/>
              <a:defRPr sz="2133"/>
            </a:lvl3pPr>
            <a:lvl4pPr marL="1828617" indent="0">
              <a:buNone/>
              <a:defRPr sz="1866"/>
            </a:lvl4pPr>
            <a:lvl5pPr marL="2438156" indent="0">
              <a:buNone/>
              <a:defRPr sz="1866"/>
            </a:lvl5pPr>
            <a:lvl6pPr marL="3047695" indent="0">
              <a:buNone/>
              <a:defRPr sz="1866"/>
            </a:lvl6pPr>
            <a:lvl7pPr marL="3657234" indent="0">
              <a:buNone/>
              <a:defRPr sz="1866"/>
            </a:lvl7pPr>
            <a:lvl8pPr marL="4266773" indent="0">
              <a:buNone/>
              <a:defRPr sz="1866"/>
            </a:lvl8pPr>
            <a:lvl9pPr marL="4876312" indent="0">
              <a:buNone/>
              <a:defRPr sz="1866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77B64-938F-41A7-B468-783CF163B3B2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9175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501801" y="10080573"/>
            <a:ext cx="12859449" cy="2851047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6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3C380-F25C-4E70-B099-B699EC5ADAC9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439175" y="9669985"/>
            <a:ext cx="12726114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439175" y="13699675"/>
            <a:ext cx="12726114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14630904" y="9669985"/>
            <a:ext cx="12730346" cy="402968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6" b="1"/>
            </a:lvl2pPr>
            <a:lvl3pPr marL="1219078" indent="0">
              <a:buNone/>
              <a:defRPr sz="2400" b="1"/>
            </a:lvl3pPr>
            <a:lvl4pPr marL="1828617" indent="0">
              <a:buNone/>
              <a:defRPr sz="2133" b="1"/>
            </a:lvl4pPr>
            <a:lvl5pPr marL="2438156" indent="0">
              <a:buNone/>
              <a:defRPr sz="2133" b="1"/>
            </a:lvl5pPr>
            <a:lvl6pPr marL="3047695" indent="0">
              <a:buNone/>
              <a:defRPr sz="2133" b="1"/>
            </a:lvl6pPr>
            <a:lvl7pPr marL="3657234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14630904" y="13699675"/>
            <a:ext cx="12730346" cy="24891372"/>
          </a:xfrm>
        </p:spPr>
        <p:txBody>
          <a:bodyPr/>
          <a:lstStyle>
            <a:lvl1pPr>
              <a:defRPr sz="3200"/>
            </a:lvl1pPr>
            <a:lvl2pPr>
              <a:defRPr sz="2666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11D1C0-6B5C-4B42-9BF5-9656ED25A1D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03E92E-70CD-434A-A365-47B3624C9D13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BB076-EF90-42B2-B80B-DD7B17B5D86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9175" y="1720661"/>
            <a:ext cx="9475273" cy="7318627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1259425" y="1720662"/>
            <a:ext cx="16101825" cy="36870385"/>
          </a:xfrm>
        </p:spPr>
        <p:txBody>
          <a:bodyPr/>
          <a:lstStyle>
            <a:lvl1pPr>
              <a:defRPr sz="4266"/>
            </a:lvl1pPr>
            <a:lvl2pPr>
              <a:defRPr sz="3733"/>
            </a:lvl2pPr>
            <a:lvl3pPr>
              <a:defRPr sz="3200"/>
            </a:lvl3pPr>
            <a:lvl4pPr>
              <a:defRPr sz="2666"/>
            </a:lvl4pPr>
            <a:lvl5pPr>
              <a:defRPr sz="2666"/>
            </a:lvl5pPr>
            <a:lvl6pPr>
              <a:defRPr sz="2666"/>
            </a:lvl6pPr>
            <a:lvl7pPr>
              <a:defRPr sz="2666"/>
            </a:lvl7pPr>
            <a:lvl8pPr>
              <a:defRPr sz="2666"/>
            </a:lvl8pPr>
            <a:lvl9pPr>
              <a:defRPr sz="2666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439175" y="9039287"/>
            <a:ext cx="9475273" cy="29551759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FA4729-5D1D-4D38-A25F-215095997037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44529" y="30239601"/>
            <a:ext cx="17280678" cy="3570424"/>
          </a:xfrm>
        </p:spPr>
        <p:txBody>
          <a:bodyPr anchor="b"/>
          <a:lstStyle>
            <a:lvl1pPr algn="l">
              <a:defRPr sz="2666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644529" y="3860375"/>
            <a:ext cx="17280678" cy="25919960"/>
          </a:xfrm>
        </p:spPr>
        <p:txBody>
          <a:bodyPr/>
          <a:lstStyle>
            <a:lvl1pPr marL="0" indent="0">
              <a:buNone/>
              <a:defRPr sz="4266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7" indent="0">
              <a:buNone/>
              <a:defRPr sz="2666"/>
            </a:lvl4pPr>
            <a:lvl5pPr marL="2438156" indent="0">
              <a:buNone/>
              <a:defRPr sz="2666"/>
            </a:lvl5pPr>
            <a:lvl6pPr marL="3047695" indent="0">
              <a:buNone/>
              <a:defRPr sz="2666"/>
            </a:lvl6pPr>
            <a:lvl7pPr marL="3657234" indent="0">
              <a:buNone/>
              <a:defRPr sz="2666"/>
            </a:lvl7pPr>
            <a:lvl8pPr marL="4266773" indent="0">
              <a:buNone/>
              <a:defRPr sz="2666"/>
            </a:lvl8pPr>
            <a:lvl9pPr marL="4876312" indent="0">
              <a:buNone/>
              <a:defRPr sz="2666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644529" y="33810024"/>
            <a:ext cx="17280678" cy="5070974"/>
          </a:xfrm>
        </p:spPr>
        <p:txBody>
          <a:bodyPr/>
          <a:lstStyle>
            <a:lvl1pPr marL="0" indent="0">
              <a:buNone/>
              <a:defRPr sz="1866"/>
            </a:lvl1pPr>
            <a:lvl2pPr marL="609539" indent="0">
              <a:buNone/>
              <a:defRPr sz="1600"/>
            </a:lvl2pPr>
            <a:lvl3pPr marL="1219078" indent="0">
              <a:buNone/>
              <a:defRPr sz="1333"/>
            </a:lvl3pPr>
            <a:lvl4pPr marL="1828617" indent="0">
              <a:buNone/>
              <a:defRPr sz="1200"/>
            </a:lvl4pPr>
            <a:lvl5pPr marL="2438156" indent="0">
              <a:buNone/>
              <a:defRPr sz="1200"/>
            </a:lvl5pPr>
            <a:lvl6pPr marL="3047695" indent="0">
              <a:buNone/>
              <a:defRPr sz="1200"/>
            </a:lvl6pPr>
            <a:lvl7pPr marL="3657234" indent="0">
              <a:buNone/>
              <a:defRPr sz="1200"/>
            </a:lvl7pPr>
            <a:lvl8pPr marL="4266773" indent="0">
              <a:buNone/>
              <a:defRPr sz="1200"/>
            </a:lvl8pPr>
            <a:lvl9pPr marL="4876312" indent="0">
              <a:buNone/>
              <a:defRPr sz="12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7DF24-3BB9-4DC6-A067-2A7C35CBC9DF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B3DDCC-A5AA-4FD1-B372-9424E989D2BC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20880732" y="1729128"/>
            <a:ext cx="6480519" cy="36861919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439175" y="1729128"/>
            <a:ext cx="19238379" cy="36861919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A33422-2CED-4084-A0A2-878BA7696C06}" type="slidenum">
              <a:rPr lang="pt-BR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439175" y="1729128"/>
            <a:ext cx="25922076" cy="720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175" y="10080573"/>
            <a:ext cx="25922076" cy="28510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39175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839300" y="39340264"/>
            <a:ext cx="9121828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6266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0639458" y="39340264"/>
            <a:ext cx="6721792" cy="3001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08610" tIns="154305" rIns="308610" bIns="1543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6266"/>
            </a:lvl1pPr>
          </a:lstStyle>
          <a:p>
            <a:fld id="{9D20D27F-DE98-4825-9B81-BD19507AA243}" type="slidenum">
              <a:rPr lang="pt-BR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+mj-lt"/>
          <a:ea typeface="+mj-ea"/>
          <a:cs typeface="+mj-cs"/>
        </a:defRPr>
      </a:lvl1pPr>
      <a:lvl2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2pPr>
      <a:lvl3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3pPr>
      <a:lvl4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4pPr>
      <a:lvl5pPr algn="ctr" defTabSz="4114389" rtl="0" eaLnBrk="0" fontAlgn="base" hangingPunct="0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5pPr>
      <a:lvl6pPr marL="609539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6pPr>
      <a:lvl7pPr marL="1219078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7pPr>
      <a:lvl8pPr marL="1828617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8pPr>
      <a:lvl9pPr marL="2438156" algn="ctr" defTabSz="4114389" rtl="0" fontAlgn="base">
        <a:spcBef>
          <a:spcPct val="0"/>
        </a:spcBef>
        <a:spcAft>
          <a:spcPct val="0"/>
        </a:spcAft>
        <a:defRPr sz="19865">
          <a:solidFill>
            <a:schemeClr val="tx2"/>
          </a:solidFill>
          <a:latin typeface="Arial" charset="0"/>
        </a:defRPr>
      </a:lvl9pPr>
    </p:titleStyle>
    <p:bodyStyle>
      <a:lvl1pPr marL="1542896" indent="-1542896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4399">
          <a:solidFill>
            <a:schemeClr val="tx1"/>
          </a:solidFill>
          <a:latin typeface="+mn-lt"/>
          <a:ea typeface="+mn-ea"/>
          <a:cs typeface="+mn-cs"/>
        </a:defRPr>
      </a:lvl1pPr>
      <a:lvl2pPr marL="3343999" indent="-1286805" algn="l" defTabSz="4114389" rtl="0" eaLnBrk="0" fontAlgn="base" hangingPunct="0">
        <a:spcBef>
          <a:spcPct val="20000"/>
        </a:spcBef>
        <a:spcAft>
          <a:spcPct val="0"/>
        </a:spcAft>
        <a:buChar char="–"/>
        <a:defRPr sz="12665">
          <a:solidFill>
            <a:schemeClr val="tx1"/>
          </a:solidFill>
          <a:latin typeface="+mn-lt"/>
        </a:defRPr>
      </a:lvl2pPr>
      <a:lvl3pPr marL="5142986" indent="-1028597" algn="l" defTabSz="4114389" rtl="0" eaLnBrk="0" fontAlgn="base" hangingPunct="0">
        <a:spcBef>
          <a:spcPct val="20000"/>
        </a:spcBef>
        <a:spcAft>
          <a:spcPct val="0"/>
        </a:spcAft>
        <a:buChar char="•"/>
        <a:defRPr sz="10799">
          <a:solidFill>
            <a:schemeClr val="tx1"/>
          </a:solidFill>
          <a:latin typeface="+mn-lt"/>
        </a:defRPr>
      </a:lvl3pPr>
      <a:lvl4pPr marL="7200180" indent="-1028597" algn="l" defTabSz="4114389" rtl="0" eaLnBrk="0" fontAlgn="base" hangingPunct="0">
        <a:spcBef>
          <a:spcPct val="20000"/>
        </a:spcBef>
        <a:spcAft>
          <a:spcPct val="0"/>
        </a:spcAft>
        <a:buChar char="–"/>
        <a:defRPr sz="9066">
          <a:solidFill>
            <a:schemeClr val="tx1"/>
          </a:solidFill>
          <a:latin typeface="+mn-lt"/>
        </a:defRPr>
      </a:lvl4pPr>
      <a:lvl5pPr marL="9257374" indent="-1028597" algn="l" defTabSz="4114389" rtl="0" eaLnBrk="0" fontAlgn="base" hangingPunct="0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5pPr>
      <a:lvl6pPr marL="9866913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6pPr>
      <a:lvl7pPr marL="10476452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7pPr>
      <a:lvl8pPr marL="11085991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8pPr>
      <a:lvl9pPr marL="11695530" indent="-1028597" algn="l" defTabSz="4114389" rtl="0" fontAlgn="base">
        <a:spcBef>
          <a:spcPct val="20000"/>
        </a:spcBef>
        <a:spcAft>
          <a:spcPct val="0"/>
        </a:spcAft>
        <a:buChar char="»"/>
        <a:defRPr sz="9066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jp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65B9183-D015-4EDA-BC8C-5077C4505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734" y="-87821"/>
            <a:ext cx="28847660" cy="43288460"/>
          </a:xfrm>
          <a:prstGeom prst="rect">
            <a:avLst/>
          </a:prstGeom>
        </p:spPr>
      </p:pic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-36734" y="2703684"/>
            <a:ext cx="28800425" cy="666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pt-BR" sz="3733" b="1" dirty="0">
                <a:ea typeface="ＭＳ Ｐゴシック" pitchFamily="34" charset="-128"/>
                <a:cs typeface="Times New Roman" pitchFamily="18" charset="0"/>
              </a:rPr>
              <a:t> Bruno Ribeiro; Gabriel Davanço; Guilherme Melo; Kauan Rocha; Ricardo </a:t>
            </a:r>
            <a:r>
              <a:rPr lang="pt-BR" sz="3733" b="1" dirty="0" err="1">
                <a:ea typeface="ＭＳ Ｐゴシック" pitchFamily="34" charset="-128"/>
                <a:cs typeface="Times New Roman" pitchFamily="18" charset="0"/>
              </a:rPr>
              <a:t>Liyudi</a:t>
            </a:r>
            <a:endParaRPr lang="pt-BR" sz="3733" b="1" dirty="0"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4102" name="TextBox 8"/>
          <p:cNvSpPr txBox="1">
            <a:spLocks noChangeArrowheads="1"/>
          </p:cNvSpPr>
          <p:nvPr/>
        </p:nvSpPr>
        <p:spPr bwMode="auto">
          <a:xfrm>
            <a:off x="689768" y="5051879"/>
            <a:ext cx="13284851" cy="6781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Sobre a equipe</a:t>
            </a:r>
          </a:p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	</a:t>
            </a:r>
            <a:r>
              <a:rPr lang="pt-BR" sz="2400" dirty="0"/>
              <a:t>A equipe responsável pelo desenvolvimento do </a:t>
            </a:r>
            <a:r>
              <a:rPr lang="pt-BR" sz="2400" dirty="0" err="1"/>
              <a:t>PicStats</a:t>
            </a:r>
            <a:r>
              <a:rPr lang="pt-BR" sz="2400" dirty="0"/>
              <a:t> é composta por </a:t>
            </a:r>
            <a:r>
              <a:rPr lang="pt-BR" sz="2400" b="1" dirty="0"/>
              <a:t>Bruno, Gabriel, Guilherme, Kauan e Ricardo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b="1" dirty="0"/>
              <a:t>Bruno</a:t>
            </a:r>
            <a:r>
              <a:rPr lang="pt-BR" sz="2400" dirty="0"/>
              <a:t> atuou como desenvolvedor </a:t>
            </a:r>
            <a:r>
              <a:rPr lang="pt-BR" sz="2400" b="1" dirty="0"/>
              <a:t>fullstack</a:t>
            </a:r>
            <a:r>
              <a:rPr lang="pt-BR" sz="2400" dirty="0"/>
              <a:t>, com foco no </a:t>
            </a:r>
            <a:r>
              <a:rPr lang="pt-BR" sz="2400" b="1" dirty="0"/>
              <a:t>banco de dados e </a:t>
            </a:r>
            <a:r>
              <a:rPr lang="pt-BR" sz="2400" b="1" dirty="0" err="1"/>
              <a:t>frontend</a:t>
            </a:r>
            <a:r>
              <a:rPr lang="pt-BR" sz="2400" dirty="0"/>
              <a:t>, além de participar das entregas de </a:t>
            </a:r>
            <a:r>
              <a:rPr lang="pt-BR" sz="2400" b="1" dirty="0"/>
              <a:t>Contabilidade e Finanças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b="1" dirty="0"/>
              <a:t>Gabriel</a:t>
            </a:r>
            <a:r>
              <a:rPr lang="pt-BR" sz="2400" dirty="0"/>
              <a:t>, também desenvolvedor </a:t>
            </a:r>
            <a:r>
              <a:rPr lang="pt-BR" sz="2400" b="1" dirty="0"/>
              <a:t>fullstack</a:t>
            </a:r>
            <a:r>
              <a:rPr lang="pt-BR" sz="2400" dirty="0"/>
              <a:t>, teve maior ênfase no </a:t>
            </a:r>
            <a:r>
              <a:rPr lang="pt-BR" sz="2400" b="1" dirty="0" err="1"/>
              <a:t>frontend</a:t>
            </a:r>
            <a:r>
              <a:rPr lang="pt-BR" sz="2400" dirty="0"/>
              <a:t> e nas análises de </a:t>
            </a:r>
            <a:r>
              <a:rPr lang="pt-BR" sz="2400" b="1" dirty="0"/>
              <a:t>Estatística Inferencial</a:t>
            </a:r>
            <a:r>
              <a:rPr lang="pt-BR" sz="2400" dirty="0"/>
              <a:t>, contribuindo ainda nas entregas de </a:t>
            </a:r>
            <a:r>
              <a:rPr lang="pt-BR" sz="2400" b="1" dirty="0"/>
              <a:t>Engenharia de Software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b="1" dirty="0"/>
              <a:t>Guilherme</a:t>
            </a:r>
            <a:r>
              <a:rPr lang="pt-BR" sz="2400" dirty="0"/>
              <a:t> ficou responsável pelo </a:t>
            </a:r>
            <a:r>
              <a:rPr lang="pt-BR" sz="2400" b="1" dirty="0" err="1"/>
              <a:t>backend</a:t>
            </a:r>
            <a:r>
              <a:rPr lang="pt-BR" sz="2400" dirty="0"/>
              <a:t> e pelo </a:t>
            </a:r>
            <a:r>
              <a:rPr lang="pt-BR" sz="2400" b="1" dirty="0"/>
              <a:t>tratamento de dados simulados</a:t>
            </a:r>
            <a:r>
              <a:rPr lang="pt-BR" sz="2400" dirty="0"/>
              <a:t>, desenvolvendo integrações e participando das entregas da disciplina de </a:t>
            </a:r>
            <a:r>
              <a:rPr lang="pt-BR" sz="2400" b="1" dirty="0"/>
              <a:t>Ciência de Dados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b="1" dirty="0"/>
              <a:t>Kauan</a:t>
            </a:r>
            <a:r>
              <a:rPr lang="pt-BR" sz="2400" dirty="0"/>
              <a:t> foi o encarregado do </a:t>
            </a:r>
            <a:r>
              <a:rPr lang="pt-BR" sz="2400" b="1" dirty="0" err="1"/>
              <a:t>frontend</a:t>
            </a:r>
            <a:r>
              <a:rPr lang="pt-BR" sz="2400" b="1" dirty="0"/>
              <a:t> e design de interface</a:t>
            </a:r>
            <a:r>
              <a:rPr lang="pt-BR" sz="2400" dirty="0"/>
              <a:t>, aplicando princípios de </a:t>
            </a:r>
            <a:r>
              <a:rPr lang="pt-BR" sz="2400" b="1" dirty="0"/>
              <a:t>usabilidade e visualização contábil</a:t>
            </a:r>
            <a:r>
              <a:rPr lang="pt-BR" sz="2400" dirty="0"/>
              <a:t>, e auxiliando nas entregas de </a:t>
            </a:r>
            <a:r>
              <a:rPr lang="pt-BR" sz="2400" b="1" dirty="0"/>
              <a:t>Contabilidade e Finanças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/>
              <a:t>Por fim, </a:t>
            </a:r>
            <a:r>
              <a:rPr lang="pt-BR" sz="2400" b="1" dirty="0"/>
              <a:t>Ricardo</a:t>
            </a:r>
            <a:r>
              <a:rPr lang="pt-BR" sz="2400" dirty="0"/>
              <a:t> atuou como </a:t>
            </a:r>
            <a:r>
              <a:rPr lang="pt-BR" sz="2400" b="1" dirty="0"/>
              <a:t>guia financeiro</a:t>
            </a:r>
            <a:r>
              <a:rPr lang="pt-BR" sz="2400" dirty="0"/>
              <a:t>, definindo os </a:t>
            </a:r>
            <a:r>
              <a:rPr lang="pt-BR" sz="2400" b="1" dirty="0"/>
              <a:t>indicadores estratégicos e financeiros</a:t>
            </a:r>
            <a:r>
              <a:rPr lang="pt-BR" sz="2400" dirty="0"/>
              <a:t> mais adequados para a aplicação, além de contribuir nas atividades de </a:t>
            </a:r>
            <a:r>
              <a:rPr lang="pt-BR" sz="2400" b="1" dirty="0"/>
              <a:t>Engenharia de Software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/>
              <a:t>O grupo manteve uma comunicação constante e multidisciplinar, garantindo a </a:t>
            </a:r>
            <a:r>
              <a:rPr lang="pt-BR" sz="2400" b="1" dirty="0"/>
              <a:t>coerência entre o design, a análise de dados e os objetivos empresariais</a:t>
            </a:r>
            <a:r>
              <a:rPr lang="pt-BR" sz="2400" dirty="0"/>
              <a:t> do projeto.</a:t>
            </a: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4104" name="Rectangle 13"/>
          <p:cNvSpPr>
            <a:spLocks noChangeArrowheads="1"/>
          </p:cNvSpPr>
          <p:nvPr/>
        </p:nvSpPr>
        <p:spPr bwMode="auto">
          <a:xfrm>
            <a:off x="0" y="-669350"/>
            <a:ext cx="184731" cy="13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4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126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10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1148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9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sz="8099">
              <a:latin typeface="Arial" panose="020B0604020202020204" pitchFamily="34" charset="0"/>
            </a:endParaRPr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295" y="1091039"/>
            <a:ext cx="27924315" cy="2258359"/>
          </a:xfrm>
        </p:spPr>
        <p:txBody>
          <a:bodyPr/>
          <a:lstStyle/>
          <a:p>
            <a:pPr eaLnBrk="1" hangingPunct="1"/>
            <a:r>
              <a:rPr lang="pt-BR" sz="5866" b="1" dirty="0" err="1"/>
              <a:t>PicStats</a:t>
            </a:r>
            <a:endParaRPr lang="pt-BR" sz="5866" b="1" dirty="0"/>
          </a:p>
        </p:txBody>
      </p:sp>
      <p:sp>
        <p:nvSpPr>
          <p:cNvPr id="4109" name="Rectangle 14"/>
          <p:cNvSpPr>
            <a:spLocks noChangeArrowheads="1"/>
          </p:cNvSpPr>
          <p:nvPr/>
        </p:nvSpPr>
        <p:spPr bwMode="auto">
          <a:xfrm>
            <a:off x="1540883" y="288300"/>
            <a:ext cx="25809904" cy="1619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11435" tIns="205717" rIns="411435" bIns="205717" anchor="ctr"/>
          <a:lstStyle/>
          <a:p>
            <a:pPr algn="ctr" eaLnBrk="1" hangingPunct="1"/>
            <a:r>
              <a:rPr lang="pt-BR" sz="7999" b="1" dirty="0">
                <a:solidFill>
                  <a:schemeClr val="bg1"/>
                </a:solidFill>
              </a:rPr>
              <a:t>Semana de Tecnologia FECAP 2025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6D4C09D9-51BE-953B-669D-23F72BD2F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5135" y="4996301"/>
            <a:ext cx="13284851" cy="9017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Problema a ser tratado</a:t>
            </a:r>
          </a:p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	</a:t>
            </a:r>
            <a:r>
              <a:rPr lang="pt-BR" sz="2400" dirty="0"/>
              <a:t>A </a:t>
            </a:r>
            <a:r>
              <a:rPr lang="pt-BR" sz="2400" b="1" dirty="0" err="1"/>
              <a:t>PicMoney</a:t>
            </a:r>
            <a:r>
              <a:rPr lang="pt-BR" sz="2400" dirty="0"/>
              <a:t> é uma startup em fase inicial que busca lançar um aplicativo de </a:t>
            </a:r>
            <a:r>
              <a:rPr lang="pt-BR" sz="2400" b="1" dirty="0"/>
              <a:t>realidade aumentada e georreferenciamento</a:t>
            </a:r>
            <a:r>
              <a:rPr lang="pt-BR" sz="2400" dirty="0"/>
              <a:t> para distribuição de </a:t>
            </a:r>
            <a:r>
              <a:rPr lang="pt-BR" sz="2400" b="1" dirty="0"/>
              <a:t>cupons virtuais de desconto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/>
              <a:t>Atualmente, o aplicativo </a:t>
            </a:r>
            <a:r>
              <a:rPr lang="pt-BR" sz="2400" b="1" dirty="0"/>
              <a:t>ainda não está disponível ao público</a:t>
            </a:r>
            <a:r>
              <a:rPr lang="pt-BR" sz="2400" dirty="0"/>
              <a:t>, e a empresa </a:t>
            </a:r>
            <a:r>
              <a:rPr lang="pt-BR" sz="2400" b="1" dirty="0"/>
              <a:t>não possui uma ferramenta estruturada para análise e acompanhamento dos dados operacionais e financeiros</a:t>
            </a:r>
            <a:r>
              <a:rPr lang="pt-BR" sz="2400" dirty="0"/>
              <a:t> que serão gerados após o lançamento.</a:t>
            </a:r>
          </a:p>
          <a:p>
            <a:pPr algn="just"/>
            <a:r>
              <a:rPr lang="pt-BR" sz="2400" dirty="0"/>
              <a:t>Sem uma plataforma de visualização, o time executivo (CEO e CFO) teria </a:t>
            </a:r>
            <a:r>
              <a:rPr lang="pt-BR" sz="2400" b="1" dirty="0"/>
              <a:t>dificuldade em acompanhar o desempenho das campanhas, prever lucros e identificar parceiros estratégicos</a:t>
            </a:r>
            <a:r>
              <a:rPr lang="pt-BR" sz="2400" dirty="0"/>
              <a:t>.</a:t>
            </a:r>
            <a:br>
              <a:rPr lang="pt-BR" sz="2400" dirty="0"/>
            </a:br>
            <a:r>
              <a:rPr lang="pt-BR" sz="2400" dirty="0"/>
              <a:t>De acordo com levantamentos de mercado (fonte: </a:t>
            </a:r>
            <a:r>
              <a:rPr lang="pt-BR" sz="2400" i="1" dirty="0" err="1"/>
              <a:t>GlobeNewswire</a:t>
            </a:r>
            <a:r>
              <a:rPr lang="pt-BR" sz="2400" i="1" dirty="0"/>
              <a:t>, 2021; </a:t>
            </a:r>
            <a:r>
              <a:rPr lang="pt-BR" sz="2400" i="1" dirty="0" err="1"/>
              <a:t>Analytics</a:t>
            </a:r>
            <a:r>
              <a:rPr lang="pt-BR" sz="2400" i="1" dirty="0"/>
              <a:t> Insight, “Data Science </a:t>
            </a:r>
            <a:r>
              <a:rPr lang="pt-BR" sz="2400" i="1" dirty="0" err="1"/>
              <a:t>Challenges</a:t>
            </a:r>
            <a:r>
              <a:rPr lang="pt-BR" sz="2400" i="1" dirty="0"/>
              <a:t> in Startups vs. </a:t>
            </a:r>
            <a:r>
              <a:rPr lang="pt-BR" sz="2400" i="1" dirty="0" err="1"/>
              <a:t>Enterprises</a:t>
            </a:r>
            <a:r>
              <a:rPr lang="pt-BR" sz="2400" i="1" dirty="0"/>
              <a:t> 2024”</a:t>
            </a:r>
            <a:r>
              <a:rPr lang="pt-BR" sz="2400" dirty="0"/>
              <a:t>), </a:t>
            </a:r>
            <a:r>
              <a:rPr lang="pt-BR" sz="2400" b="1" dirty="0"/>
              <a:t>cerca de 60% das startups relatam dificuldade em coletar dados nos primeiros anos </a:t>
            </a:r>
            <a:r>
              <a:rPr lang="pt-BR" sz="2400" dirty="0"/>
              <a:t>e </a:t>
            </a:r>
            <a:r>
              <a:rPr lang="pt-BR" sz="2400" b="1" dirty="0"/>
              <a:t>70% das empresas </a:t>
            </a:r>
            <a:r>
              <a:rPr lang="pt-BR" sz="2400" dirty="0"/>
              <a:t>ainda são surpreendidas por mudanças não antecipadas, por não conseguirem utilizar melhor os dados coletados — o que reforça a necessidade de uma solução de dashboard integrada desde os estágios iniciais da empresa.</a:t>
            </a:r>
          </a:p>
          <a:p>
            <a:pPr algn="just"/>
            <a:r>
              <a:rPr lang="pt-BR" sz="2400" dirty="0"/>
              <a:t>Portanto, o problema central é a </a:t>
            </a:r>
            <a:r>
              <a:rPr lang="pt-BR" sz="2400" b="1" dirty="0"/>
              <a:t>falta de um ambiente unificado e inteligente de análise de dados estratégicos</a:t>
            </a:r>
            <a:r>
              <a:rPr lang="pt-BR" sz="2400" dirty="0"/>
              <a:t>, capaz de transformar métricas dispersas em </a:t>
            </a:r>
            <a:r>
              <a:rPr lang="pt-BR" sz="2400" b="1" dirty="0"/>
              <a:t>informações relevantes para a tomada de decisão executiva</a:t>
            </a:r>
            <a:r>
              <a:rPr lang="pt-BR" sz="2400" dirty="0"/>
              <a:t>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2666" dirty="0"/>
              <a:t>	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1758913-C53F-99C8-A545-3D8DE7E0E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53" y="33543418"/>
            <a:ext cx="13318910" cy="7540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Solução proposta</a:t>
            </a:r>
          </a:p>
          <a:p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  Foi desenvolvido um </a:t>
            </a:r>
            <a:r>
              <a:rPr lang="pt-BR" sz="2400" b="1" dirty="0"/>
              <a:t>Dashboard Interativo e Responsivo</a:t>
            </a:r>
            <a:r>
              <a:rPr lang="pt-BR" sz="2400" dirty="0"/>
              <a:t>, projetado para </a:t>
            </a:r>
            <a:r>
              <a:rPr lang="pt-BR" sz="2400" b="1" dirty="0"/>
              <a:t>centralizar e transformar os dados estratégicos da </a:t>
            </a:r>
            <a:r>
              <a:rPr lang="pt-BR" sz="2400" b="1" dirty="0" err="1"/>
              <a:t>PicMoney</a:t>
            </a:r>
            <a:r>
              <a:rPr lang="pt-BR" sz="2400" dirty="0"/>
              <a:t> em informações acessíveis e relevantes para a tomada de decisão executiva.</a:t>
            </a:r>
            <a:br>
              <a:rPr lang="pt-BR" sz="2400" dirty="0"/>
            </a:br>
            <a:r>
              <a:rPr lang="pt-BR" sz="2400" dirty="0"/>
              <a:t>A ferramenta antecipa o momento em que o aplicativo entrar em operação, permitindo que o time diretivo (CEO e CFO) já conte com uma estrutura de </a:t>
            </a:r>
            <a:r>
              <a:rPr lang="pt-BR" sz="2400" b="1" dirty="0"/>
              <a:t>Business </a:t>
            </a:r>
            <a:r>
              <a:rPr lang="pt-BR" sz="2400" b="1" dirty="0" err="1"/>
              <a:t>Intelligence</a:t>
            </a:r>
            <a:r>
              <a:rPr lang="pt-BR" sz="2400" b="1" dirty="0"/>
              <a:t> (BI)</a:t>
            </a:r>
            <a:r>
              <a:rPr lang="pt-BR" sz="2400" dirty="0"/>
              <a:t> preparada para acompanhar o desempenho das futuras campanhas e resultados financeiros.</a:t>
            </a:r>
          </a:p>
          <a:p>
            <a:r>
              <a:rPr lang="pt-BR" sz="2400" dirty="0"/>
              <a:t>O dashboard oferece </a:t>
            </a:r>
            <a:r>
              <a:rPr lang="pt-BR" sz="2400" b="1" dirty="0"/>
              <a:t>painéis dinâmicos e personalizados por perfil executivo</a:t>
            </a:r>
            <a:r>
              <a:rPr lang="pt-BR" sz="2400" dirty="0"/>
              <a:t>, possibilitando uma análise integrada e precisa dos indicadores-chave (KPIs) da empresa: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Visualização de KPIs </a:t>
            </a:r>
            <a:r>
              <a:rPr lang="pt-BR" sz="2400" dirty="0"/>
              <a:t>segmentados por tipo de executivo (</a:t>
            </a:r>
            <a:r>
              <a:rPr lang="pt-BR" sz="2400" b="1" dirty="0"/>
              <a:t>financeiro e operacional</a:t>
            </a:r>
            <a:r>
              <a:rPr lang="pt-BR" sz="2400" dirty="0"/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Filtros dinâmicos </a:t>
            </a:r>
            <a:r>
              <a:rPr lang="pt-BR" sz="2400" dirty="0"/>
              <a:t>por período, parceiro e campanha;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Alertas inteligentes</a:t>
            </a:r>
            <a:r>
              <a:rPr lang="pt-BR" sz="2400" dirty="0"/>
              <a:t> para valores fora do padrão;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Mapas de calor</a:t>
            </a:r>
            <a:r>
              <a:rPr lang="pt-BR" sz="2400" dirty="0"/>
              <a:t> </a:t>
            </a:r>
            <a:r>
              <a:rPr lang="pt-BR" sz="2400" b="1" dirty="0"/>
              <a:t>e gráficos interativos</a:t>
            </a:r>
            <a:r>
              <a:rPr lang="pt-BR" sz="2400" dirty="0"/>
              <a:t> para análise visual;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Exportação de relatórios</a:t>
            </a:r>
            <a:r>
              <a:rPr lang="pt-BR" sz="2400" dirty="0"/>
              <a:t> e </a:t>
            </a:r>
            <a:r>
              <a:rPr lang="pt-BR" sz="2400" b="1" dirty="0"/>
              <a:t>simulação de projeções financeiras</a:t>
            </a:r>
            <a:r>
              <a:rPr lang="pt-BR" sz="2400" dirty="0"/>
              <a:t>.</a:t>
            </a:r>
          </a:p>
          <a:p>
            <a:r>
              <a:rPr lang="pt-BR" sz="2400" dirty="0"/>
              <a:t>Com essa solução, a </a:t>
            </a:r>
            <a:r>
              <a:rPr lang="pt-BR" sz="2400" dirty="0" err="1"/>
              <a:t>PicMoney</a:t>
            </a:r>
            <a:r>
              <a:rPr lang="pt-BR" sz="2400" dirty="0"/>
              <a:t> estabelece uma </a:t>
            </a:r>
            <a:r>
              <a:rPr lang="pt-BR" sz="2400" b="1" dirty="0"/>
              <a:t>base sólida de inteligência de dados</a:t>
            </a:r>
            <a:r>
              <a:rPr lang="pt-BR" sz="2400" dirty="0"/>
              <a:t>, essencial para </a:t>
            </a:r>
            <a:r>
              <a:rPr lang="pt-BR" sz="2400" b="1" dirty="0"/>
              <a:t>transformar métricas dispersas em insights estratégicos</a:t>
            </a:r>
            <a:r>
              <a:rPr lang="pt-BR" sz="2400" dirty="0"/>
              <a:t>, aprimorando o controle financeiro, a previsão de resultados e a eficiência na tomada de decisões desde os primeiros estágios de sua operação.</a:t>
            </a:r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584AD84-C68C-68B6-E7C1-1D0E2FA7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0" y="3107306"/>
            <a:ext cx="29592614" cy="135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11435" tIns="205717" rIns="411435" bIns="205717" numCol="1" anchor="ctr" anchorCtr="0" compatLnSpc="1">
            <a:prstTxWarp prst="textNoShape">
              <a:avLst/>
            </a:prstTxWarp>
          </a:bodyPr>
          <a:lstStyle>
            <a:lvl1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2pPr>
            <a:lvl3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3pPr>
            <a:lvl4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4pPr>
            <a:lvl5pPr algn="ctr" defTabSz="3086100" rtl="0" eaLnBrk="0" fontAlgn="base" hangingPunct="0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5pPr>
            <a:lvl6pPr marL="4572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6pPr>
            <a:lvl7pPr marL="9144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7pPr>
            <a:lvl8pPr marL="13716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8pPr>
            <a:lvl9pPr marL="1828800" algn="ctr" defTabSz="3086100" rtl="0" fontAlgn="base">
              <a:spcBef>
                <a:spcPct val="0"/>
              </a:spcBef>
              <a:spcAft>
                <a:spcPct val="0"/>
              </a:spcAft>
              <a:defRPr sz="149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66" b="1" kern="0" dirty="0"/>
              <a:t>Professores: Eduardo </a:t>
            </a:r>
            <a:r>
              <a:rPr lang="pt-BR" sz="2666" b="1" kern="0" dirty="0" err="1"/>
              <a:t>Savino</a:t>
            </a:r>
            <a:r>
              <a:rPr lang="pt-BR" sz="2666" b="1" kern="0" dirty="0"/>
              <a:t>; Lucy Mari; Mauricio Lopes; </a:t>
            </a:r>
            <a:r>
              <a:rPr lang="pt-BR" sz="2666" b="1" kern="0" dirty="0" err="1"/>
              <a:t>Rodnil</a:t>
            </a:r>
            <a:r>
              <a:rPr lang="pt-BR" sz="2666" b="1" kern="0" dirty="0"/>
              <a:t> da Silva</a:t>
            </a:r>
            <a:endParaRPr lang="pt-BR" sz="5866" b="1" kern="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E19C662-D68A-6035-2E4C-978100FAE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46784" y="33543418"/>
            <a:ext cx="13318910" cy="8648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defTabSz="1678349" eaLnBrk="1" hangingPunct="1"/>
            <a:r>
              <a:rPr lang="pt-BR" sz="3600" b="1" dirty="0">
                <a:ea typeface="ＭＳ Ｐゴシック" pitchFamily="34" charset="-128"/>
              </a:rPr>
              <a:t>Futuro do projeto</a:t>
            </a:r>
          </a:p>
          <a:p>
            <a:r>
              <a:rPr lang="pt-BR" sz="3733" dirty="0"/>
              <a:t> </a:t>
            </a:r>
            <a:r>
              <a:rPr lang="pt-BR" sz="2666" dirty="0"/>
              <a:t>	</a:t>
            </a:r>
            <a:r>
              <a:rPr lang="pt-BR" sz="2400" dirty="0"/>
              <a:t>O projeto prevê evoluções técnicas e estratégicas para viabilizar o uso real do dashboard junto à </a:t>
            </a:r>
            <a:r>
              <a:rPr lang="pt-BR" sz="2400" dirty="0" err="1"/>
              <a:t>PicMoney</a:t>
            </a:r>
            <a:r>
              <a:rPr lang="pt-BR" sz="2400" dirty="0"/>
              <a:t>.</a:t>
            </a:r>
          </a:p>
          <a:p>
            <a:r>
              <a:rPr lang="pt-BR" sz="2400" b="1" dirty="0"/>
              <a:t>Próximas etapas:</a:t>
            </a:r>
            <a:endParaRPr lang="pt-B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Integração com dados reais da </a:t>
            </a:r>
            <a:r>
              <a:rPr lang="pt-BR" sz="2400" b="1" dirty="0" err="1"/>
              <a:t>PicMoney</a:t>
            </a:r>
            <a:r>
              <a:rPr lang="pt-BR" sz="2400" dirty="0"/>
              <a:t>, substituindo os atuais dados simulados.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Autenticação por níveis de acesso</a:t>
            </a:r>
            <a:r>
              <a:rPr lang="pt-BR" sz="2400" dirty="0"/>
              <a:t>, garantindo controle diferenciado para CEO, CFO e demais gestores.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Implementação de uma IA de assessoria executiva</a:t>
            </a:r>
            <a:r>
              <a:rPr lang="pt-BR" sz="2400" dirty="0"/>
              <a:t>, capaz de gerar </a:t>
            </a:r>
            <a:r>
              <a:rPr lang="pt-BR" sz="2400" b="1" dirty="0"/>
              <a:t>insights automáticos</a:t>
            </a:r>
            <a:r>
              <a:rPr lang="pt-BR" sz="2400" dirty="0"/>
              <a:t>, </a:t>
            </a:r>
            <a:r>
              <a:rPr lang="pt-BR" sz="2400" b="1" dirty="0"/>
              <a:t>previsões financeiras</a:t>
            </a:r>
            <a:r>
              <a:rPr lang="pt-BR" sz="2400" dirty="0"/>
              <a:t> e </a:t>
            </a:r>
            <a:r>
              <a:rPr lang="pt-BR" sz="2400" b="1" dirty="0"/>
              <a:t>recomendações de estratégias</a:t>
            </a:r>
            <a:r>
              <a:rPr lang="pt-BR" sz="2400" dirty="0"/>
              <a:t> com base no histórico da empresa.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Adoção de segurança avançada baseada em IA e Blockchain</a:t>
            </a:r>
            <a:r>
              <a:rPr lang="pt-BR" sz="2400" dirty="0"/>
              <a:t>, aplicando tecnologias de </a:t>
            </a:r>
            <a:r>
              <a:rPr lang="pt-BR" sz="2400" b="1" dirty="0"/>
              <a:t>criptografia assimétrica</a:t>
            </a:r>
            <a:r>
              <a:rPr lang="pt-BR" sz="2400" dirty="0"/>
              <a:t> e </a:t>
            </a:r>
            <a:r>
              <a:rPr lang="pt-BR" sz="2400" b="1" dirty="0"/>
              <a:t>monitoramento preditivo de ameaças</a:t>
            </a:r>
            <a:r>
              <a:rPr lang="pt-BR" sz="2400" dirty="0"/>
              <a:t> para proteger os dados da plataforma.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Versão mobile dedicada</a:t>
            </a:r>
            <a:r>
              <a:rPr lang="pt-BR" sz="2400" dirty="0"/>
              <a:t> para Android e iOS</a:t>
            </a:r>
          </a:p>
          <a:p>
            <a:r>
              <a:rPr lang="pt-BR" sz="2400" b="1" dirty="0"/>
              <a:t>Investimento estimado:</a:t>
            </a:r>
            <a:r>
              <a:rPr lang="pt-BR" sz="2400" dirty="0"/>
              <a:t> R$ 20.000,00</a:t>
            </a:r>
            <a:br>
              <a:rPr lang="pt-BR" sz="2400" dirty="0"/>
            </a:br>
            <a:r>
              <a:rPr lang="pt-BR" sz="2400" b="1" dirty="0"/>
              <a:t>Recursos necessários:</a:t>
            </a:r>
            <a:r>
              <a:rPr lang="pt-BR" sz="2400" dirty="0"/>
              <a:t> Servidores em nuvem (AWS/Azure), APIs reais da </a:t>
            </a:r>
            <a:r>
              <a:rPr lang="pt-BR" sz="2400" dirty="0" err="1"/>
              <a:t>PicMoney</a:t>
            </a:r>
            <a:r>
              <a:rPr lang="pt-BR" sz="2400" dirty="0"/>
              <a:t>, integração de IA (OpenAI/</a:t>
            </a:r>
            <a:r>
              <a:rPr lang="pt-BR" sz="2400" dirty="0" err="1"/>
              <a:t>TensorFlow</a:t>
            </a:r>
            <a:r>
              <a:rPr lang="pt-BR" sz="2400" dirty="0"/>
              <a:t>) e módulos de segurança avançada (</a:t>
            </a:r>
            <a:r>
              <a:rPr lang="pt-BR" sz="2400" dirty="0" err="1"/>
              <a:t>HashiCorp</a:t>
            </a:r>
            <a:r>
              <a:rPr lang="pt-BR" sz="2400" dirty="0"/>
              <a:t> </a:t>
            </a:r>
            <a:r>
              <a:rPr lang="pt-BR" sz="2400" dirty="0" err="1"/>
              <a:t>Vault</a:t>
            </a:r>
            <a:r>
              <a:rPr lang="pt-BR" sz="2400" dirty="0"/>
              <a:t>, OWASP).</a:t>
            </a:r>
          </a:p>
          <a:p>
            <a:r>
              <a:rPr lang="pt-BR" sz="2400" dirty="0"/>
              <a:t>O objetivo é transformar o protótipo acadêmico em uma </a:t>
            </a:r>
            <a:r>
              <a:rPr lang="pt-BR" sz="2400" b="1" dirty="0"/>
              <a:t>solução corporativa escalável</a:t>
            </a:r>
            <a:r>
              <a:rPr lang="pt-BR" sz="2400" dirty="0"/>
              <a:t>, segura e orientada por dados.</a:t>
            </a:r>
          </a:p>
          <a:p>
            <a:endParaRPr lang="pt-BR" sz="2400" dirty="0"/>
          </a:p>
          <a:p>
            <a:endParaRPr lang="pt-BR" sz="2400" dirty="0"/>
          </a:p>
          <a:p>
            <a:pPr algn="just" defTabSz="1678349" eaLnBrk="1" hangingPunct="1">
              <a:spcAft>
                <a:spcPts val="1200"/>
              </a:spcAft>
            </a:pPr>
            <a:endParaRPr lang="pt-BR" sz="2666" dirty="0"/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22108886-71AE-7425-406A-CC03C41D8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5802" y="13097819"/>
            <a:ext cx="12868819" cy="1569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678349" eaLnBrk="1" hangingPunct="1"/>
            <a:r>
              <a:rPr lang="pt-BR" sz="5866" b="1" dirty="0">
                <a:ea typeface="ＭＳ Ｐゴシック" pitchFamily="34" charset="-128"/>
              </a:rPr>
              <a:t>Imagens e ferramentas do Projeto</a:t>
            </a:r>
          </a:p>
          <a:p>
            <a:pPr algn="just" defTabSz="1678349" eaLnBrk="1" hangingPunct="1">
              <a:spcAft>
                <a:spcPts val="1200"/>
              </a:spcAft>
            </a:pPr>
            <a:r>
              <a:rPr lang="pt-BR" sz="3733" dirty="0"/>
              <a:t> </a:t>
            </a:r>
            <a:r>
              <a:rPr lang="pt-BR" sz="2666" dirty="0"/>
              <a:t>	</a:t>
            </a:r>
          </a:p>
        </p:txBody>
      </p:sp>
      <p:pic>
        <p:nvPicPr>
          <p:cNvPr id="5" name="Imagem 4" descr="Uma imagem contendo óculos&#10;&#10;O conteúdo gerado por IA pode estar incorreto.">
            <a:extLst>
              <a:ext uri="{FF2B5EF4-FFF2-40B4-BE49-F238E27FC236}">
                <a16:creationId xmlns:a16="http://schemas.microsoft.com/office/drawing/2014/main" id="{C56C1960-665E-2EB7-EDC1-1EBC9CE69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52" y="40356014"/>
            <a:ext cx="3095947" cy="3115297"/>
          </a:xfrm>
          <a:prstGeom prst="rect">
            <a:avLst/>
          </a:prstGeom>
        </p:spPr>
      </p:pic>
      <p:pic>
        <p:nvPicPr>
          <p:cNvPr id="10" name="Imagem 9" descr="Uma imagem contendo óculos, caneca&#10;&#10;O conteúdo gerado por IA pode estar incorreto.">
            <a:extLst>
              <a:ext uri="{FF2B5EF4-FFF2-40B4-BE49-F238E27FC236}">
                <a16:creationId xmlns:a16="http://schemas.microsoft.com/office/drawing/2014/main" id="{55769E50-5B5D-08C0-E78D-9BA4C9547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1752" y="40382747"/>
            <a:ext cx="3095945" cy="3105591"/>
          </a:xfrm>
          <a:prstGeom prst="rect">
            <a:avLst/>
          </a:prstGeom>
        </p:spPr>
      </p:pic>
      <p:pic>
        <p:nvPicPr>
          <p:cNvPr id="15" name="Imagem 14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31366770-2457-D40F-603F-BB4428389E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6347" y="15123681"/>
            <a:ext cx="2252785" cy="1689588"/>
          </a:xfrm>
          <a:prstGeom prst="rect">
            <a:avLst/>
          </a:prstGeom>
        </p:spPr>
      </p:pic>
      <p:pic>
        <p:nvPicPr>
          <p:cNvPr id="18" name="Imagem 17" descr="Ícone&#10;&#10;O conteúdo gerado por IA pode estar incorreto.">
            <a:extLst>
              <a:ext uri="{FF2B5EF4-FFF2-40B4-BE49-F238E27FC236}">
                <a16:creationId xmlns:a16="http://schemas.microsoft.com/office/drawing/2014/main" id="{6D783549-32E2-3701-9536-85EC637BA2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3741" y="15027978"/>
            <a:ext cx="2090947" cy="2090947"/>
          </a:xfrm>
          <a:prstGeom prst="rect">
            <a:avLst/>
          </a:prstGeom>
        </p:spPr>
      </p:pic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73D00F91-BE69-CD19-3046-7E612168F67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9522" y="17355310"/>
            <a:ext cx="3206433" cy="1516793"/>
          </a:xfrm>
          <a:prstGeom prst="rect">
            <a:avLst/>
          </a:prstGeom>
        </p:spPr>
      </p:pic>
      <p:pic>
        <p:nvPicPr>
          <p:cNvPr id="23" name="Imagem 22" descr="Forma&#10;&#10;O conteúdo gerado por IA pode estar incorreto.">
            <a:extLst>
              <a:ext uri="{FF2B5EF4-FFF2-40B4-BE49-F238E27FC236}">
                <a16:creationId xmlns:a16="http://schemas.microsoft.com/office/drawing/2014/main" id="{A5A369BC-E7F3-5752-FC4D-6D36982D1A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5204" y="14412134"/>
            <a:ext cx="3244379" cy="3244379"/>
          </a:xfrm>
          <a:prstGeom prst="rect">
            <a:avLst/>
          </a:prstGeom>
        </p:spPr>
      </p:pic>
      <p:pic>
        <p:nvPicPr>
          <p:cNvPr id="25" name="Imagem 24" descr="Logotipo&#10;&#10;O conteúdo gerado por IA pode estar incorreto.">
            <a:extLst>
              <a:ext uri="{FF2B5EF4-FFF2-40B4-BE49-F238E27FC236}">
                <a16:creationId xmlns:a16="http://schemas.microsoft.com/office/drawing/2014/main" id="{A6CCA146-C524-7DA4-FE4F-E1463B53CD6A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6482" y="17084338"/>
            <a:ext cx="3244379" cy="1898133"/>
          </a:xfrm>
          <a:prstGeom prst="rect">
            <a:avLst/>
          </a:prstGeom>
        </p:spPr>
      </p:pic>
      <p:sp>
        <p:nvSpPr>
          <p:cNvPr id="26" name="Rectangle 1">
            <a:extLst>
              <a:ext uri="{FF2B5EF4-FFF2-40B4-BE49-F238E27FC236}">
                <a16:creationId xmlns:a16="http://schemas.microsoft.com/office/drawing/2014/main" id="{8E3B2682-2E60-7DB8-E7F7-645B69A61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8004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17B7B729-F16D-AE71-1EE4-328C75F30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288004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F4023BBA-0F98-4BDA-845A-45E1511CAF1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744" y="16367570"/>
            <a:ext cx="12654390" cy="6322316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DD1DEFE3-D00D-2309-CCE3-FA5BB4585AA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99275" y="19269888"/>
            <a:ext cx="14947160" cy="6737796"/>
          </a:xfrm>
          <a:prstGeom prst="rect">
            <a:avLst/>
          </a:prstGeom>
        </p:spPr>
      </p:pic>
      <p:pic>
        <p:nvPicPr>
          <p:cNvPr id="34" name="Imagem 33" descr="Interface gráfica do usuário, Aplicativo, Site&#10;&#10;O conteúdo gerado por IA pode estar incorreto.">
            <a:extLst>
              <a:ext uri="{FF2B5EF4-FFF2-40B4-BE49-F238E27FC236}">
                <a16:creationId xmlns:a16="http://schemas.microsoft.com/office/drawing/2014/main" id="{BEEA6AB5-3A26-4588-C036-B8666B68ACD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883" y="24443496"/>
            <a:ext cx="8326619" cy="7151971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1254BE38-159B-1046-773C-2C127ADAB6A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81241" y="25975115"/>
            <a:ext cx="14855619" cy="6974728"/>
          </a:xfrm>
          <a:prstGeom prst="rect">
            <a:avLst/>
          </a:prstGeom>
        </p:spPr>
      </p:pic>
      <p:sp>
        <p:nvSpPr>
          <p:cNvPr id="37" name="TextBox 8">
            <a:extLst>
              <a:ext uri="{FF2B5EF4-FFF2-40B4-BE49-F238E27FC236}">
                <a16:creationId xmlns:a16="http://schemas.microsoft.com/office/drawing/2014/main" id="{27B5A3B2-9E21-7516-3C32-D7DE003737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84" y="22880841"/>
            <a:ext cx="387492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678349" eaLnBrk="1" hangingPunct="1"/>
            <a:r>
              <a:rPr lang="pt-BR" sz="1700" dirty="0">
                <a:solidFill>
                  <a:schemeClr val="bg2"/>
                </a:solidFill>
                <a:ea typeface="ＭＳ Ｐゴシック" pitchFamily="34" charset="-128"/>
              </a:rPr>
              <a:t>Inspiração de Dashboard</a:t>
            </a:r>
            <a:endParaRPr lang="pt-BR" sz="2666" dirty="0">
              <a:solidFill>
                <a:schemeClr val="bg2"/>
              </a:solidFill>
            </a:endParaRP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95739611-7811-B561-E332-C8814277C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1241" y="33008483"/>
            <a:ext cx="387492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678349" eaLnBrk="1" hangingPunct="1"/>
            <a:r>
              <a:rPr lang="pt-BR" sz="1700" dirty="0">
                <a:solidFill>
                  <a:schemeClr val="bg2"/>
                </a:solidFill>
                <a:ea typeface="ＭＳ Ｐゴシック" pitchFamily="34" charset="-128"/>
              </a:rPr>
              <a:t>Protótipo pagina scroll-</a:t>
            </a:r>
            <a:r>
              <a:rPr lang="pt-BR" sz="1700" dirty="0" err="1">
                <a:solidFill>
                  <a:schemeClr val="bg2"/>
                </a:solidFill>
                <a:ea typeface="ＭＳ Ｐゴシック" pitchFamily="34" charset="-128"/>
              </a:rPr>
              <a:t>down</a:t>
            </a:r>
            <a:r>
              <a:rPr lang="pt-BR" sz="1700" dirty="0">
                <a:solidFill>
                  <a:schemeClr val="bg2"/>
                </a:solidFill>
                <a:ea typeface="ＭＳ Ｐゴシック" pitchFamily="34" charset="-128"/>
              </a:rPr>
              <a:t> inicial </a:t>
            </a:r>
            <a:endParaRPr lang="pt-BR" sz="2666" dirty="0">
              <a:solidFill>
                <a:schemeClr val="bg2"/>
              </a:solidFill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745376B3-F285-3FA6-3FE2-1C96E6D82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8970" y="31641387"/>
            <a:ext cx="387492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1678349" eaLnBrk="1" hangingPunct="1"/>
            <a:r>
              <a:rPr lang="pt-BR" sz="1700" dirty="0">
                <a:solidFill>
                  <a:schemeClr val="bg2"/>
                </a:solidFill>
                <a:ea typeface="ＭＳ Ｐゴシック" pitchFamily="34" charset="-128"/>
              </a:rPr>
              <a:t>Pagina de login genérica</a:t>
            </a:r>
            <a:endParaRPr lang="pt-BR" sz="2666" dirty="0">
              <a:solidFill>
                <a:schemeClr val="bg2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3A23F8D-95CF-4472-A4E3-81AA845F400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181437" y="15243545"/>
            <a:ext cx="1431922" cy="1431922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63C6664-1B41-4ED1-B01C-AE2E601C574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222522" y="17396847"/>
            <a:ext cx="4010342" cy="162293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55B54A3-EA10-4080-A50C-00DF7CD3259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407787" y="15965448"/>
            <a:ext cx="2100064" cy="210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94372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30861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6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5364877AF745B4281652B53F43C594A" ma:contentTypeVersion="15" ma:contentTypeDescription="Crie um novo documento." ma:contentTypeScope="" ma:versionID="440a6fbbcbce65e3f8e2bed610644788">
  <xsd:schema xmlns:xsd="http://www.w3.org/2001/XMLSchema" xmlns:xs="http://www.w3.org/2001/XMLSchema" xmlns:p="http://schemas.microsoft.com/office/2006/metadata/properties" xmlns:ns2="1d2798d9-1030-4cc5-be7b-200f9e628651" xmlns:ns3="8ca2a57e-8138-4b57-956a-eb6e2c7049cc" targetNamespace="http://schemas.microsoft.com/office/2006/metadata/properties" ma:root="true" ma:fieldsID="3ff20d9b6411658b7762fa2c08d7e1af" ns2:_="" ns3:_="">
    <xsd:import namespace="1d2798d9-1030-4cc5-be7b-200f9e628651"/>
    <xsd:import namespace="8ca2a57e-8138-4b57-956a-eb6e2c7049c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2798d9-1030-4cc5-be7b-200f9e6286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2adbafb-c224-4d2e-8ca4-b5c3cc77204d}" ma:internalName="TaxCatchAll" ma:showField="CatchAllData" ma:web="1d2798d9-1030-4cc5-be7b-200f9e6286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a2a57e-8138-4b57-956a-eb6e2c70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aeda4b81-a95b-4c43-add2-24b94db42d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ca2a57e-8138-4b57-956a-eb6e2c7049cc">
      <Terms xmlns="http://schemas.microsoft.com/office/infopath/2007/PartnerControls"/>
    </lcf76f155ced4ddcb4097134ff3c332f>
    <TaxCatchAll xmlns="1d2798d9-1030-4cc5-be7b-200f9e62865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0583F25-0BD0-426F-9D18-6079E5A027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2798d9-1030-4cc5-be7b-200f9e628651"/>
    <ds:schemaRef ds:uri="8ca2a57e-8138-4b57-956a-eb6e2c7049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C580D08-C850-4D98-9BB0-6190D1509D8A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ca2a57e-8138-4b57-956a-eb6e2c7049cc"/>
    <ds:schemaRef ds:uri="http://schemas.microsoft.com/office/2006/metadata/properties"/>
    <ds:schemaRef ds:uri="1d2798d9-1030-4cc5-be7b-200f9e628651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0511531-72C6-41EA-909D-35A50B0891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797</TotalTime>
  <Words>844</Words>
  <Application>Microsoft Office PowerPoint</Application>
  <PresentationFormat>Personalizar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Times New Roman</vt:lpstr>
      <vt:lpstr>Design padrão</vt:lpstr>
      <vt:lpstr>PicStats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Jr</dc:creator>
  <cp:lastModifiedBy>Ricardo Liyudi Tetsuya</cp:lastModifiedBy>
  <cp:revision>54</cp:revision>
  <dcterms:created xsi:type="dcterms:W3CDTF">2006-11-04T15:46:42Z</dcterms:created>
  <dcterms:modified xsi:type="dcterms:W3CDTF">2025-11-03T23:34:24Z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0x01010045364877AF745B4281652B53F43C594A</vt:lpwstr>
  </property>
</Properties>
</file>