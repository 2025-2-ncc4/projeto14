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" d="100"/>
          <a:sy n="11" d="100"/>
        </p:scale>
        <p:origin x="2448" y="120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734" y="-87821"/>
            <a:ext cx="28847660" cy="43288460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Bruno Ribeiro; Gabriel Davanço; Guilherme Melo; Kauan Rocha; Ricardo </a:t>
            </a: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Liyudi</a:t>
            </a:r>
            <a:endParaRPr lang="pt-BR" sz="3733" b="1" dirty="0">
              <a:ea typeface="ＭＳ Ｐゴシック" pitchFamily="34" charset="-128"/>
              <a:cs typeface="Times New Roman" pitchFamily="18" charset="0"/>
            </a:endParaRP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89768" y="5051879"/>
            <a:ext cx="13284851" cy="67812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	</a:t>
            </a:r>
            <a:r>
              <a:rPr lang="pt-BR" sz="2400" dirty="0"/>
              <a:t>A equipe responsável pelo desenvolvimento do </a:t>
            </a:r>
            <a:r>
              <a:rPr lang="pt-BR" sz="2400" dirty="0" err="1"/>
              <a:t>PicStats</a:t>
            </a:r>
            <a:r>
              <a:rPr lang="pt-BR" sz="2400" dirty="0"/>
              <a:t> é composta por </a:t>
            </a:r>
            <a:r>
              <a:rPr lang="pt-BR" sz="2400" b="1" dirty="0"/>
              <a:t>Bruno, Gabriel, Guilherme, Kauan e Ricardo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Bruno</a:t>
            </a:r>
            <a:r>
              <a:rPr lang="pt-BR" sz="2400" dirty="0"/>
              <a:t> atuou como desenvolvedor </a:t>
            </a:r>
            <a:r>
              <a:rPr lang="pt-BR" sz="2400" b="1" dirty="0"/>
              <a:t>fullstack</a:t>
            </a:r>
            <a:r>
              <a:rPr lang="pt-BR" sz="2400" dirty="0"/>
              <a:t>, com foco no </a:t>
            </a:r>
            <a:r>
              <a:rPr lang="pt-BR" sz="2400" b="1" dirty="0"/>
              <a:t>banco de dados e </a:t>
            </a:r>
            <a:r>
              <a:rPr lang="pt-BR" sz="2400" b="1" dirty="0" err="1"/>
              <a:t>frontend</a:t>
            </a:r>
            <a:r>
              <a:rPr lang="pt-BR" sz="2400" dirty="0"/>
              <a:t>, além de participar das entregas de </a:t>
            </a:r>
            <a:r>
              <a:rPr lang="pt-BR" sz="2400" b="1" dirty="0"/>
              <a:t>Contabilidade e Finanças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Gabriel</a:t>
            </a:r>
            <a:r>
              <a:rPr lang="pt-BR" sz="2400" dirty="0"/>
              <a:t>, também desenvolvedor </a:t>
            </a:r>
            <a:r>
              <a:rPr lang="pt-BR" sz="2400" b="1" dirty="0"/>
              <a:t>fullstack</a:t>
            </a:r>
            <a:r>
              <a:rPr lang="pt-BR" sz="2400" dirty="0"/>
              <a:t>, teve maior ênfase no </a:t>
            </a:r>
            <a:r>
              <a:rPr lang="pt-BR" sz="2400" b="1" dirty="0" err="1"/>
              <a:t>frontend</a:t>
            </a:r>
            <a:r>
              <a:rPr lang="pt-BR" sz="2400" dirty="0"/>
              <a:t> e nas análises de </a:t>
            </a:r>
            <a:r>
              <a:rPr lang="pt-BR" sz="2400" b="1" dirty="0"/>
              <a:t>Estatística Inferencial</a:t>
            </a:r>
            <a:r>
              <a:rPr lang="pt-BR" sz="2400" dirty="0"/>
              <a:t>, contribuindo ainda nas entregas de </a:t>
            </a:r>
            <a:r>
              <a:rPr lang="pt-BR" sz="2400" b="1" dirty="0"/>
              <a:t>Engenharia de Software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Guilherme</a:t>
            </a:r>
            <a:r>
              <a:rPr lang="pt-BR" sz="2400" dirty="0"/>
              <a:t> ficou responsável pelo </a:t>
            </a:r>
            <a:r>
              <a:rPr lang="pt-BR" sz="2400" b="1" dirty="0" err="1"/>
              <a:t>backend</a:t>
            </a:r>
            <a:r>
              <a:rPr lang="pt-BR" sz="2400" dirty="0"/>
              <a:t> e pelo </a:t>
            </a:r>
            <a:r>
              <a:rPr lang="pt-BR" sz="2400" b="1" dirty="0"/>
              <a:t>tratamento de dados simulados</a:t>
            </a:r>
            <a:r>
              <a:rPr lang="pt-BR" sz="2400" dirty="0"/>
              <a:t>, desenvolvendo integrações e participando das entregas da disciplina de </a:t>
            </a:r>
            <a:r>
              <a:rPr lang="pt-BR" sz="2400" b="1" dirty="0"/>
              <a:t>Ciência de Dados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b="1" dirty="0"/>
              <a:t>Kauan</a:t>
            </a:r>
            <a:r>
              <a:rPr lang="pt-BR" sz="2400" dirty="0"/>
              <a:t> foi o encarregado do </a:t>
            </a:r>
            <a:r>
              <a:rPr lang="pt-BR" sz="2400" b="1" dirty="0" err="1"/>
              <a:t>frontend</a:t>
            </a:r>
            <a:r>
              <a:rPr lang="pt-BR" sz="2400" b="1" dirty="0"/>
              <a:t> e design de interface</a:t>
            </a:r>
            <a:r>
              <a:rPr lang="pt-BR" sz="2400" dirty="0"/>
              <a:t>, aplicando princípios de </a:t>
            </a:r>
            <a:r>
              <a:rPr lang="pt-BR" sz="2400" b="1" dirty="0"/>
              <a:t>usabilidade e visualização contábil</a:t>
            </a:r>
            <a:r>
              <a:rPr lang="pt-BR" sz="2400" dirty="0"/>
              <a:t>, e auxiliando nas entregas de </a:t>
            </a:r>
            <a:r>
              <a:rPr lang="pt-BR" sz="2400" b="1" dirty="0"/>
              <a:t>Contabilidade e Finanças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Por fim, </a:t>
            </a:r>
            <a:r>
              <a:rPr lang="pt-BR" sz="2400" b="1" dirty="0"/>
              <a:t>Ricardo</a:t>
            </a:r>
            <a:r>
              <a:rPr lang="pt-BR" sz="2400" dirty="0"/>
              <a:t> atuou como </a:t>
            </a:r>
            <a:r>
              <a:rPr lang="pt-BR" sz="2400" b="1" dirty="0"/>
              <a:t>guia financeiro</a:t>
            </a:r>
            <a:r>
              <a:rPr lang="pt-BR" sz="2400" dirty="0"/>
              <a:t>, definindo os </a:t>
            </a:r>
            <a:r>
              <a:rPr lang="pt-BR" sz="2400" b="1" dirty="0"/>
              <a:t>indicadores estratégicos e financeiros</a:t>
            </a:r>
            <a:r>
              <a:rPr lang="pt-BR" sz="2400" dirty="0"/>
              <a:t> mais adequados para a aplicação, além de contribuir nas atividades de </a:t>
            </a:r>
            <a:r>
              <a:rPr lang="pt-BR" sz="2400" b="1" dirty="0"/>
              <a:t>Engenharia de Software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O grupo manteve uma comunicação constante e multidisciplinar, garantindo a </a:t>
            </a:r>
            <a:r>
              <a:rPr lang="pt-BR" sz="2400" b="1" dirty="0"/>
              <a:t>coerência entre o design, a análise de dados e os objetivos empresariais</a:t>
            </a:r>
            <a:r>
              <a:rPr lang="pt-BR" sz="2400" dirty="0"/>
              <a:t> do projeto.</a:t>
            </a: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 err="1"/>
              <a:t>PicStats</a:t>
            </a:r>
            <a:endParaRPr lang="pt-BR" sz="5866" b="1" dirty="0"/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25135" y="4996301"/>
            <a:ext cx="13284851" cy="9017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	</a:t>
            </a:r>
            <a:r>
              <a:rPr lang="pt-BR" sz="2400" dirty="0"/>
              <a:t>A </a:t>
            </a:r>
            <a:r>
              <a:rPr lang="pt-BR" sz="2400" b="1" dirty="0" err="1"/>
              <a:t>PicMoney</a:t>
            </a:r>
            <a:r>
              <a:rPr lang="pt-BR" sz="2400" dirty="0"/>
              <a:t> é uma startup em fase inicial que busca lançar um aplicativo de </a:t>
            </a:r>
            <a:r>
              <a:rPr lang="pt-BR" sz="2400" b="1" dirty="0"/>
              <a:t>realidade aumentada e georreferenciamento</a:t>
            </a:r>
            <a:r>
              <a:rPr lang="pt-BR" sz="2400" dirty="0"/>
              <a:t> para distribuição de </a:t>
            </a:r>
            <a:r>
              <a:rPr lang="pt-BR" sz="2400" b="1" dirty="0"/>
              <a:t>cupons virtuais de desconto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Atualmente, o aplicativo </a:t>
            </a:r>
            <a:r>
              <a:rPr lang="pt-BR" sz="2400" b="1" dirty="0"/>
              <a:t>ainda não está disponível ao público</a:t>
            </a:r>
            <a:r>
              <a:rPr lang="pt-BR" sz="2400" dirty="0"/>
              <a:t>, e a empresa </a:t>
            </a:r>
            <a:r>
              <a:rPr lang="pt-BR" sz="2400" b="1" dirty="0"/>
              <a:t>não possui uma ferramenta estruturada para análise e acompanhamento dos dados operacionais e financeiros</a:t>
            </a:r>
            <a:r>
              <a:rPr lang="pt-BR" sz="2400" dirty="0"/>
              <a:t> que serão gerados após o lançamento.</a:t>
            </a:r>
          </a:p>
          <a:p>
            <a:pPr algn="just"/>
            <a:r>
              <a:rPr lang="pt-BR" sz="2400" dirty="0"/>
              <a:t>Sem uma plataforma de visualização, o time executivo (CEO e CFO) teria </a:t>
            </a:r>
            <a:r>
              <a:rPr lang="pt-BR" sz="2400" b="1" dirty="0"/>
              <a:t>dificuldade em acompanhar o desempenho das campanhas, prever lucros e identificar parceiros estratégicos</a:t>
            </a:r>
            <a:r>
              <a:rPr lang="pt-BR" sz="2400" dirty="0"/>
              <a:t>.</a:t>
            </a:r>
            <a:br>
              <a:rPr lang="pt-BR" sz="2400" dirty="0"/>
            </a:br>
            <a:r>
              <a:rPr lang="pt-BR" sz="2400" dirty="0"/>
              <a:t>De acordo com levantamentos de mercado (fonte: </a:t>
            </a:r>
            <a:r>
              <a:rPr lang="pt-BR" sz="2400" i="1" dirty="0" err="1"/>
              <a:t>GlobeNewswire</a:t>
            </a:r>
            <a:r>
              <a:rPr lang="pt-BR" sz="2400" i="1" dirty="0"/>
              <a:t>, 2021; </a:t>
            </a:r>
            <a:r>
              <a:rPr lang="pt-BR" sz="2400" i="1" dirty="0" err="1"/>
              <a:t>Analytics</a:t>
            </a:r>
            <a:r>
              <a:rPr lang="pt-BR" sz="2400" i="1" dirty="0"/>
              <a:t> Insight, “Data Science </a:t>
            </a:r>
            <a:r>
              <a:rPr lang="pt-BR" sz="2400" i="1" dirty="0" err="1"/>
              <a:t>Challenges</a:t>
            </a:r>
            <a:r>
              <a:rPr lang="pt-BR" sz="2400" i="1" dirty="0"/>
              <a:t> in Startups vs. </a:t>
            </a:r>
            <a:r>
              <a:rPr lang="pt-BR" sz="2400" i="1" dirty="0" err="1"/>
              <a:t>Enterprises</a:t>
            </a:r>
            <a:r>
              <a:rPr lang="pt-BR" sz="2400" i="1" dirty="0"/>
              <a:t> 2024”</a:t>
            </a:r>
            <a:r>
              <a:rPr lang="pt-BR" sz="2400" dirty="0"/>
              <a:t>), </a:t>
            </a:r>
            <a:r>
              <a:rPr lang="pt-BR" sz="2400" b="1" dirty="0"/>
              <a:t>cerca de 60% das startups relatam dificuldade em coletar dados nos primeiros anos </a:t>
            </a:r>
            <a:r>
              <a:rPr lang="pt-BR" sz="2400" dirty="0"/>
              <a:t>e </a:t>
            </a:r>
            <a:r>
              <a:rPr lang="pt-BR" sz="2400" b="1" dirty="0"/>
              <a:t>70% das empresas </a:t>
            </a:r>
            <a:r>
              <a:rPr lang="pt-BR" sz="2400" dirty="0"/>
              <a:t>ainda são surpreendidas por mudanças não antecipadas, por não conseguirem utilizar melhor os dados coletados — o que reforça a necessidade de uma solução de dashboard integrada desde os estágios iniciais da empresa.</a:t>
            </a:r>
          </a:p>
          <a:p>
            <a:pPr algn="just"/>
            <a:r>
              <a:rPr lang="pt-BR" sz="2400" dirty="0"/>
              <a:t>Portanto, o problema central é a </a:t>
            </a:r>
            <a:r>
              <a:rPr lang="pt-BR" sz="2400" b="1" dirty="0"/>
              <a:t>falta de um ambiente unificado e inteligente de análise de dados estratégicos</a:t>
            </a:r>
            <a:r>
              <a:rPr lang="pt-BR" sz="2400" dirty="0"/>
              <a:t>, capaz de transformar métricas dispersas em </a:t>
            </a:r>
            <a:r>
              <a:rPr lang="pt-BR" sz="2400" b="1" dirty="0"/>
              <a:t>informações relevantes para a tomada de decisão executiva</a:t>
            </a:r>
            <a:r>
              <a:rPr lang="pt-BR" sz="2400" dirty="0"/>
              <a:t>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7540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Foi desenvolvido um </a:t>
            </a:r>
            <a:r>
              <a:rPr lang="pt-BR" sz="2400" b="1" dirty="0"/>
              <a:t>Dashboard Interativo e Responsivo</a:t>
            </a:r>
            <a:r>
              <a:rPr lang="pt-BR" sz="2400" dirty="0"/>
              <a:t>, projetado para </a:t>
            </a:r>
            <a:r>
              <a:rPr lang="pt-BR" sz="2400" b="1" dirty="0"/>
              <a:t>centralizar e transformar os dados estratégicos da </a:t>
            </a:r>
            <a:r>
              <a:rPr lang="pt-BR" sz="2400" b="1" dirty="0" err="1"/>
              <a:t>PicMoney</a:t>
            </a:r>
            <a:r>
              <a:rPr lang="pt-BR" sz="2400" dirty="0"/>
              <a:t> em informações acessíveis e relevantes para a tomada de decisão executiva.</a:t>
            </a:r>
            <a:br>
              <a:rPr lang="pt-BR" sz="2400" dirty="0"/>
            </a:br>
            <a:r>
              <a:rPr lang="pt-BR" sz="2400" dirty="0"/>
              <a:t>A ferramenta antecipa o momento em que o aplicativo entrar em operação, permitindo que o time diretivo (CEO e CFO) já conte com uma estrutura de </a:t>
            </a:r>
            <a:r>
              <a:rPr lang="pt-BR" sz="2400" b="1" dirty="0"/>
              <a:t>Business </a:t>
            </a:r>
            <a:r>
              <a:rPr lang="pt-BR" sz="2400" b="1" dirty="0" err="1"/>
              <a:t>Intelligence</a:t>
            </a:r>
            <a:r>
              <a:rPr lang="pt-BR" sz="2400" b="1" dirty="0"/>
              <a:t> (BI)</a:t>
            </a:r>
            <a:r>
              <a:rPr lang="pt-BR" sz="2400" dirty="0"/>
              <a:t> preparada para acompanhar o desempenho das futuras campanhas e resultados financeiros.</a:t>
            </a:r>
          </a:p>
          <a:p>
            <a:r>
              <a:rPr lang="pt-BR" sz="2400" dirty="0"/>
              <a:t>O dashboard oferece </a:t>
            </a:r>
            <a:r>
              <a:rPr lang="pt-BR" sz="2400" b="1" dirty="0"/>
              <a:t>painéis dinâmicos e personalizados por perfil executivo</a:t>
            </a:r>
            <a:r>
              <a:rPr lang="pt-BR" sz="2400" dirty="0"/>
              <a:t>, possibilitando uma análise integrada e precisa dos indicadores-chave (KPIs) da empresa: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Visualização de KPIs </a:t>
            </a:r>
            <a:r>
              <a:rPr lang="pt-BR" sz="2400" dirty="0"/>
              <a:t>segmentados por tipo de executivo (</a:t>
            </a:r>
            <a:r>
              <a:rPr lang="pt-BR" sz="2400" b="1" dirty="0"/>
              <a:t>financeiro e operacional</a:t>
            </a:r>
            <a:r>
              <a:rPr lang="pt-BR" sz="2400" dirty="0"/>
              <a:t>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Filtros dinâmicos </a:t>
            </a:r>
            <a:r>
              <a:rPr lang="pt-BR" sz="2400" dirty="0"/>
              <a:t>por período, parceiro e campanha;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Alertas inteligentes</a:t>
            </a:r>
            <a:r>
              <a:rPr lang="pt-BR" sz="2400" dirty="0"/>
              <a:t> para valores fora do padrão;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Mapas de calor</a:t>
            </a:r>
            <a:r>
              <a:rPr lang="pt-BR" sz="2400" dirty="0"/>
              <a:t> </a:t>
            </a:r>
            <a:r>
              <a:rPr lang="pt-BR" sz="2400" b="1" dirty="0"/>
              <a:t>e gráficos interativos</a:t>
            </a:r>
            <a:r>
              <a:rPr lang="pt-BR" sz="2400" dirty="0"/>
              <a:t> para análise visual;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Exportação de relatórios</a:t>
            </a:r>
            <a:r>
              <a:rPr lang="pt-BR" sz="2400" dirty="0"/>
              <a:t> e </a:t>
            </a:r>
            <a:r>
              <a:rPr lang="pt-BR" sz="2400" b="1" dirty="0"/>
              <a:t>simulação de projeções financeiras</a:t>
            </a:r>
            <a:r>
              <a:rPr lang="pt-BR" sz="2400" dirty="0"/>
              <a:t>.</a:t>
            </a:r>
          </a:p>
          <a:p>
            <a:r>
              <a:rPr lang="pt-BR" sz="2400" dirty="0"/>
              <a:t>Com essa solução, a </a:t>
            </a:r>
            <a:r>
              <a:rPr lang="pt-BR" sz="2400" dirty="0" err="1"/>
              <a:t>PicMoney</a:t>
            </a:r>
            <a:r>
              <a:rPr lang="pt-BR" sz="2400" dirty="0"/>
              <a:t> estabelece uma </a:t>
            </a:r>
            <a:r>
              <a:rPr lang="pt-BR" sz="2400" b="1" dirty="0"/>
              <a:t>base sólida de inteligência de dados</a:t>
            </a:r>
            <a:r>
              <a:rPr lang="pt-BR" sz="2400" dirty="0"/>
              <a:t>, essencial para </a:t>
            </a:r>
            <a:r>
              <a:rPr lang="pt-BR" sz="2400" b="1" dirty="0"/>
              <a:t>transformar métricas dispersas em insights estratégicos</a:t>
            </a:r>
            <a:r>
              <a:rPr lang="pt-BR" sz="2400" dirty="0"/>
              <a:t>, aprimorando o controle financeiro, a previsão de resultados e a eficiência na tomada de decisões desde os primeiros estágios de sua operação.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107306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Eduardo </a:t>
            </a:r>
            <a:r>
              <a:rPr lang="pt-BR" sz="2666" b="1" kern="0" dirty="0" err="1"/>
              <a:t>Savino</a:t>
            </a:r>
            <a:r>
              <a:rPr lang="pt-BR" sz="2666" b="1" kern="0" dirty="0"/>
              <a:t>; Lucy Mari; Mauricio Lopes; </a:t>
            </a:r>
            <a:r>
              <a:rPr lang="pt-BR" sz="2666" b="1" kern="0" dirty="0" err="1"/>
              <a:t>Rodnil</a:t>
            </a:r>
            <a:r>
              <a:rPr lang="pt-BR" sz="2666" b="1" kern="0" dirty="0"/>
              <a:t> da Silva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3318910" cy="8648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O projeto prevê evoluções técnicas e estratégicas para viabilizar o uso real do dashboard junto à </a:t>
            </a:r>
            <a:r>
              <a:rPr lang="pt-BR" sz="2400" dirty="0" err="1"/>
              <a:t>PicMoney</a:t>
            </a:r>
            <a:r>
              <a:rPr lang="pt-BR" sz="2400" dirty="0"/>
              <a:t>.</a:t>
            </a:r>
          </a:p>
          <a:p>
            <a:r>
              <a:rPr lang="pt-BR" sz="2400" b="1" dirty="0"/>
              <a:t>Próximas etapas:</a:t>
            </a:r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Integração com dados reais da </a:t>
            </a:r>
            <a:r>
              <a:rPr lang="pt-BR" sz="2400" b="1" dirty="0" err="1"/>
              <a:t>PicMoney</a:t>
            </a:r>
            <a:r>
              <a:rPr lang="pt-BR" sz="2400" dirty="0"/>
              <a:t>, substituindo os atuais dados simulados.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Autenticação por níveis de acesso</a:t>
            </a:r>
            <a:r>
              <a:rPr lang="pt-BR" sz="2400" dirty="0"/>
              <a:t>, garantindo controle diferenciado para CEO, CFO e demais gestores.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Implementação de uma IA de assessoria executiva</a:t>
            </a:r>
            <a:r>
              <a:rPr lang="pt-BR" sz="2400" dirty="0"/>
              <a:t>, capaz de gerar </a:t>
            </a:r>
            <a:r>
              <a:rPr lang="pt-BR" sz="2400" b="1" dirty="0"/>
              <a:t>insights automáticos</a:t>
            </a:r>
            <a:r>
              <a:rPr lang="pt-BR" sz="2400" dirty="0"/>
              <a:t>, </a:t>
            </a:r>
            <a:r>
              <a:rPr lang="pt-BR" sz="2400" b="1" dirty="0"/>
              <a:t>previsões financeiras</a:t>
            </a:r>
            <a:r>
              <a:rPr lang="pt-BR" sz="2400" dirty="0"/>
              <a:t> e </a:t>
            </a:r>
            <a:r>
              <a:rPr lang="pt-BR" sz="2400" b="1" dirty="0"/>
              <a:t>recomendações de estratégias</a:t>
            </a:r>
            <a:r>
              <a:rPr lang="pt-BR" sz="2400" dirty="0"/>
              <a:t> com base no histórico da empresa.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Adoção de segurança avançada baseada em IA e Blockchain</a:t>
            </a:r>
            <a:r>
              <a:rPr lang="pt-BR" sz="2400" dirty="0"/>
              <a:t>, aplicando tecnologias de </a:t>
            </a:r>
            <a:r>
              <a:rPr lang="pt-BR" sz="2400" b="1" dirty="0"/>
              <a:t>criptografia assimétrica</a:t>
            </a:r>
            <a:r>
              <a:rPr lang="pt-BR" sz="2400" dirty="0"/>
              <a:t> e </a:t>
            </a:r>
            <a:r>
              <a:rPr lang="pt-BR" sz="2400" b="1" dirty="0"/>
              <a:t>monitoramento preditivo de ameaças</a:t>
            </a:r>
            <a:r>
              <a:rPr lang="pt-BR" sz="2400" dirty="0"/>
              <a:t> para proteger os dados da plataforma.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b="1" dirty="0"/>
              <a:t>Versão mobile dedicada</a:t>
            </a:r>
            <a:r>
              <a:rPr lang="pt-BR" sz="2400" dirty="0"/>
              <a:t> para Android e iOS</a:t>
            </a:r>
          </a:p>
          <a:p>
            <a:r>
              <a:rPr lang="pt-BR" sz="2400" b="1" dirty="0"/>
              <a:t>Investimento estimado:</a:t>
            </a:r>
            <a:r>
              <a:rPr lang="pt-BR" sz="2400" dirty="0"/>
              <a:t> R$ 20.000,00</a:t>
            </a:r>
            <a:br>
              <a:rPr lang="pt-BR" sz="2400" dirty="0"/>
            </a:br>
            <a:r>
              <a:rPr lang="pt-BR" sz="2400" b="1" dirty="0"/>
              <a:t>Recursos necessários:</a:t>
            </a:r>
            <a:r>
              <a:rPr lang="pt-BR" sz="2400" dirty="0"/>
              <a:t> Servidores em nuvem (AWS/Azure), APIs reais da </a:t>
            </a:r>
            <a:r>
              <a:rPr lang="pt-BR" sz="2400" dirty="0" err="1"/>
              <a:t>PicMoney</a:t>
            </a:r>
            <a:r>
              <a:rPr lang="pt-BR" sz="2400" dirty="0"/>
              <a:t>, integração de IA (OpenAI/</a:t>
            </a:r>
            <a:r>
              <a:rPr lang="pt-BR" sz="2400" dirty="0" err="1"/>
              <a:t>TensorFlow</a:t>
            </a:r>
            <a:r>
              <a:rPr lang="pt-BR" sz="2400" dirty="0"/>
              <a:t>) e módulos de segurança avançada (</a:t>
            </a:r>
            <a:r>
              <a:rPr lang="pt-BR" sz="2400" dirty="0" err="1"/>
              <a:t>HashiCorp</a:t>
            </a:r>
            <a:r>
              <a:rPr lang="pt-BR" sz="2400" dirty="0"/>
              <a:t> </a:t>
            </a:r>
            <a:r>
              <a:rPr lang="pt-BR" sz="2400" dirty="0" err="1"/>
              <a:t>Vault</a:t>
            </a:r>
            <a:r>
              <a:rPr lang="pt-BR" sz="2400" dirty="0"/>
              <a:t>, OWASP).</a:t>
            </a:r>
          </a:p>
          <a:p>
            <a:r>
              <a:rPr lang="pt-BR" sz="2400" dirty="0"/>
              <a:t>O objetivo é transformar o protótipo acadêmico em uma </a:t>
            </a:r>
            <a:r>
              <a:rPr lang="pt-BR" sz="2400" b="1" dirty="0"/>
              <a:t>solução corporativa escalável</a:t>
            </a:r>
            <a:r>
              <a:rPr lang="pt-BR" sz="2400" dirty="0"/>
              <a:t>, segura e orientada por dados.</a:t>
            </a:r>
          </a:p>
          <a:p>
            <a:endParaRPr lang="pt-BR" sz="2400" dirty="0"/>
          </a:p>
          <a:p>
            <a:endParaRPr lang="pt-BR" sz="2400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65802" y="13097819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5" name="Imagem 1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31366770-2457-D40F-603F-BB4428389EC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6347" y="15123681"/>
            <a:ext cx="2252785" cy="1689588"/>
          </a:xfrm>
          <a:prstGeom prst="rect">
            <a:avLst/>
          </a:prstGeom>
        </p:spPr>
      </p:pic>
      <p:pic>
        <p:nvPicPr>
          <p:cNvPr id="18" name="Imagem 17" descr="Ícone&#10;&#10;O conteúdo gerado por IA pode estar incorreto.">
            <a:extLst>
              <a:ext uri="{FF2B5EF4-FFF2-40B4-BE49-F238E27FC236}">
                <a16:creationId xmlns:a16="http://schemas.microsoft.com/office/drawing/2014/main" id="{6D783549-32E2-3701-9536-85EC637BA26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3741" y="15027978"/>
            <a:ext cx="2090947" cy="2090947"/>
          </a:xfrm>
          <a:prstGeom prst="rect">
            <a:avLst/>
          </a:prstGeom>
        </p:spPr>
      </p:pic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73D00F91-BE69-CD19-3046-7E612168F67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89522" y="17355310"/>
            <a:ext cx="3206433" cy="1516793"/>
          </a:xfrm>
          <a:prstGeom prst="rect">
            <a:avLst/>
          </a:prstGeom>
        </p:spPr>
      </p:pic>
      <p:pic>
        <p:nvPicPr>
          <p:cNvPr id="23" name="Imagem 22" descr="Forma&#10;&#10;O conteúdo gerado por IA pode estar incorreto.">
            <a:extLst>
              <a:ext uri="{FF2B5EF4-FFF2-40B4-BE49-F238E27FC236}">
                <a16:creationId xmlns:a16="http://schemas.microsoft.com/office/drawing/2014/main" id="{A5A369BC-E7F3-5752-FC4D-6D36982D1A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35204" y="14412134"/>
            <a:ext cx="3244379" cy="3244379"/>
          </a:xfrm>
          <a:prstGeom prst="rect">
            <a:avLst/>
          </a:prstGeom>
        </p:spPr>
      </p:pic>
      <p:pic>
        <p:nvPicPr>
          <p:cNvPr id="25" name="Imagem 24" descr="Logotipo&#10;&#10;O conteúdo gerado por IA pode estar incorreto.">
            <a:extLst>
              <a:ext uri="{FF2B5EF4-FFF2-40B4-BE49-F238E27FC236}">
                <a16:creationId xmlns:a16="http://schemas.microsoft.com/office/drawing/2014/main" id="{A6CCA146-C524-7DA4-FE4F-E1463B53CD6A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06482" y="17084338"/>
            <a:ext cx="3244379" cy="1898133"/>
          </a:xfrm>
          <a:prstGeom prst="rect">
            <a:avLst/>
          </a:prstGeom>
        </p:spPr>
      </p:pic>
      <p:sp>
        <p:nvSpPr>
          <p:cNvPr id="26" name="Rectangle 1">
            <a:extLst>
              <a:ext uri="{FF2B5EF4-FFF2-40B4-BE49-F238E27FC236}">
                <a16:creationId xmlns:a16="http://schemas.microsoft.com/office/drawing/2014/main" id="{8E3B2682-2E60-7DB8-E7F7-645B69A61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27" name="Rectangle 2">
            <a:extLst>
              <a:ext uri="{FF2B5EF4-FFF2-40B4-BE49-F238E27FC236}">
                <a16:creationId xmlns:a16="http://schemas.microsoft.com/office/drawing/2014/main" id="{17B7B729-F16D-AE71-1EE4-328C75F30E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F4023BBA-0F98-4BDA-845A-45E1511CAF1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744" y="16367570"/>
            <a:ext cx="12654390" cy="6322316"/>
          </a:xfrm>
          <a:prstGeom prst="rect">
            <a:avLst/>
          </a:prstGeom>
        </p:spPr>
      </p:pic>
      <p:pic>
        <p:nvPicPr>
          <p:cNvPr id="32" name="Imagem 31">
            <a:extLst>
              <a:ext uri="{FF2B5EF4-FFF2-40B4-BE49-F238E27FC236}">
                <a16:creationId xmlns:a16="http://schemas.microsoft.com/office/drawing/2014/main" id="{DD1DEFE3-D00D-2309-CCE3-FA5BB4585AA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099275" y="19269888"/>
            <a:ext cx="14947160" cy="6737796"/>
          </a:xfrm>
          <a:prstGeom prst="rect">
            <a:avLst/>
          </a:prstGeom>
        </p:spPr>
      </p:pic>
      <p:pic>
        <p:nvPicPr>
          <p:cNvPr id="34" name="Imagem 33" descr="Interface gráfica do usuário, Aplicativo, Site&#10;&#10;O conteúdo gerado por IA pode estar incorreto.">
            <a:extLst>
              <a:ext uri="{FF2B5EF4-FFF2-40B4-BE49-F238E27FC236}">
                <a16:creationId xmlns:a16="http://schemas.microsoft.com/office/drawing/2014/main" id="{BEEA6AB5-3A26-4588-C036-B8666B68ACD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0883" y="24443496"/>
            <a:ext cx="8326619" cy="7151971"/>
          </a:xfrm>
          <a:prstGeom prst="rect">
            <a:avLst/>
          </a:prstGeom>
        </p:spPr>
      </p:pic>
      <p:pic>
        <p:nvPicPr>
          <p:cNvPr id="36" name="Imagem 35">
            <a:extLst>
              <a:ext uri="{FF2B5EF4-FFF2-40B4-BE49-F238E27FC236}">
                <a16:creationId xmlns:a16="http://schemas.microsoft.com/office/drawing/2014/main" id="{1254BE38-159B-1046-773C-2C127ADAB6A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81241" y="25975115"/>
            <a:ext cx="14855619" cy="6974728"/>
          </a:xfrm>
          <a:prstGeom prst="rect">
            <a:avLst/>
          </a:prstGeom>
        </p:spPr>
      </p:pic>
      <p:sp>
        <p:nvSpPr>
          <p:cNvPr id="37" name="TextBox 8">
            <a:extLst>
              <a:ext uri="{FF2B5EF4-FFF2-40B4-BE49-F238E27FC236}">
                <a16:creationId xmlns:a16="http://schemas.microsoft.com/office/drawing/2014/main" id="{27B5A3B2-9E21-7516-3C32-D7DE00373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584" y="22880841"/>
            <a:ext cx="387492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Inspiração de Dashboard</a:t>
            </a:r>
            <a:endParaRPr lang="pt-BR" sz="2666" dirty="0">
              <a:solidFill>
                <a:schemeClr val="bg2"/>
              </a:solidFill>
            </a:endParaRPr>
          </a:p>
        </p:txBody>
      </p:sp>
      <p:sp>
        <p:nvSpPr>
          <p:cNvPr id="38" name="TextBox 8">
            <a:extLst>
              <a:ext uri="{FF2B5EF4-FFF2-40B4-BE49-F238E27FC236}">
                <a16:creationId xmlns:a16="http://schemas.microsoft.com/office/drawing/2014/main" id="{95739611-7811-B561-E332-C8814277C1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81241" y="33008483"/>
            <a:ext cx="387492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Protótipo pagina scroll-</a:t>
            </a:r>
            <a:r>
              <a:rPr lang="pt-BR" sz="1700" dirty="0" err="1">
                <a:solidFill>
                  <a:schemeClr val="bg2"/>
                </a:solidFill>
                <a:ea typeface="ＭＳ Ｐゴシック" pitchFamily="34" charset="-128"/>
              </a:rPr>
              <a:t>down</a:t>
            </a:r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 inicial </a:t>
            </a:r>
            <a:endParaRPr lang="pt-BR" sz="2666" dirty="0">
              <a:solidFill>
                <a:schemeClr val="bg2"/>
              </a:solidFill>
            </a:endParaRPr>
          </a:p>
        </p:txBody>
      </p:sp>
      <p:sp>
        <p:nvSpPr>
          <p:cNvPr id="39" name="TextBox 8">
            <a:extLst>
              <a:ext uri="{FF2B5EF4-FFF2-40B4-BE49-F238E27FC236}">
                <a16:creationId xmlns:a16="http://schemas.microsoft.com/office/drawing/2014/main" id="{745376B3-F285-3FA6-3FE2-1C96E6D823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8970" y="31641387"/>
            <a:ext cx="387492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defTabSz="1678349" eaLnBrk="1" hangingPunct="1"/>
            <a:r>
              <a:rPr lang="pt-BR" sz="1700" dirty="0">
                <a:solidFill>
                  <a:schemeClr val="bg2"/>
                </a:solidFill>
                <a:ea typeface="ＭＳ Ｐゴシック" pitchFamily="34" charset="-128"/>
              </a:rPr>
              <a:t>Pagina de login genérica</a:t>
            </a:r>
            <a:endParaRPr lang="pt-BR" sz="2666" dirty="0">
              <a:solidFill>
                <a:schemeClr val="bg2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3A23F8D-95CF-4472-A4E3-81AA845F400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181437" y="15243545"/>
            <a:ext cx="1431922" cy="1431922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63C6664-1B41-4ED1-B01C-AE2E601C574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222522" y="17396847"/>
            <a:ext cx="4010342" cy="162293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55B54A3-EA10-4080-A50C-00DF7CD3259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407787" y="15965448"/>
            <a:ext cx="2100064" cy="210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http://schemas.microsoft.com/office/2006/metadata/properties"/>
    <ds:schemaRef ds:uri="1d2798d9-1030-4cc5-be7b-200f9e628651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797</TotalTime>
  <Words>844</Words>
  <Application>Microsoft Office PowerPoint</Application>
  <PresentationFormat>Personalizar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ＭＳ Ｐゴシック</vt:lpstr>
      <vt:lpstr>Arial</vt:lpstr>
      <vt:lpstr>Calibri</vt:lpstr>
      <vt:lpstr>Times New Roman</vt:lpstr>
      <vt:lpstr>Design padrão</vt:lpstr>
      <vt:lpstr>PicStats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Ricardo Liyudi Tetsuya</cp:lastModifiedBy>
  <cp:revision>54</cp:revision>
  <dcterms:created xsi:type="dcterms:W3CDTF">2006-11-04T15:46:42Z</dcterms:created>
  <dcterms:modified xsi:type="dcterms:W3CDTF">2025-11-03T23:36:49Z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