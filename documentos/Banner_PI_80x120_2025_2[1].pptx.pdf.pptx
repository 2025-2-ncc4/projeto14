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8778200" cy="43180000"/>
  <p:notesSz cx="6858000" cy="9144000"/>
  <p:embeddedFontLst>
    <p:embeddedFont>
      <p:font typeface="Arial Bold" charset="1" panose="020B0704020202020204"/>
      <p:regular r:id="rId7"/>
    </p:embeddedFont>
    <p:embeddedFont>
      <p:font typeface="Arial" charset="1" panose="020B06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svg" Type="http://schemas.openxmlformats.org/officeDocument/2006/relationships/image"/><Relationship Id="rId39" Target="../media/image38.png" Type="http://schemas.openxmlformats.org/officeDocument/2006/relationships/image"/><Relationship Id="rId4" Target="../media/image3.jpeg" Type="http://schemas.openxmlformats.org/officeDocument/2006/relationships/image"/><Relationship Id="rId40" Target="../media/image39.svg" Type="http://schemas.openxmlformats.org/officeDocument/2006/relationships/image"/><Relationship Id="rId41" Target="../media/image40.png" Type="http://schemas.openxmlformats.org/officeDocument/2006/relationships/image"/><Relationship Id="rId42" Target="../media/image41.png" Type="http://schemas.openxmlformats.org/officeDocument/2006/relationships/image"/><Relationship Id="rId43" Target="../media/image42.png" Type="http://schemas.openxmlformats.org/officeDocument/2006/relationships/image"/><Relationship Id="rId44" Target="../media/image43.png" Type="http://schemas.openxmlformats.org/officeDocument/2006/relationships/image"/><Relationship Id="rId45" Target="../media/image44.png" Type="http://schemas.openxmlformats.org/officeDocument/2006/relationships/image"/><Relationship Id="rId46" Target="../media/image45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8800428" cy="43200628"/>
          </a:xfrm>
          <a:custGeom>
            <a:avLst/>
            <a:gdLst/>
            <a:ahLst/>
            <a:cxnLst/>
            <a:rect r="r" b="b" t="t" l="l"/>
            <a:pathLst>
              <a:path h="43200628" w="28800428">
                <a:moveTo>
                  <a:pt x="0" y="0"/>
                </a:moveTo>
                <a:lnTo>
                  <a:pt x="28800428" y="0"/>
                </a:lnTo>
                <a:lnTo>
                  <a:pt x="28800428" y="43200628"/>
                </a:lnTo>
                <a:lnTo>
                  <a:pt x="0" y="43200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738" y="-87821"/>
            <a:ext cx="28847663" cy="43288458"/>
          </a:xfrm>
          <a:custGeom>
            <a:avLst/>
            <a:gdLst/>
            <a:ahLst/>
            <a:cxnLst/>
            <a:rect r="r" b="b" t="t" l="l"/>
            <a:pathLst>
              <a:path h="43288458" w="28847663">
                <a:moveTo>
                  <a:pt x="0" y="0"/>
                </a:moveTo>
                <a:lnTo>
                  <a:pt x="28847663" y="0"/>
                </a:lnTo>
                <a:lnTo>
                  <a:pt x="28847663" y="43288459"/>
                </a:lnTo>
                <a:lnTo>
                  <a:pt x="0" y="43288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4728" cy="669350"/>
          </a:xfrm>
          <a:custGeom>
            <a:avLst/>
            <a:gdLst/>
            <a:ahLst/>
            <a:cxnLst/>
            <a:rect r="r" b="b" t="t" l="l"/>
            <a:pathLst>
              <a:path h="669350" w="184728">
                <a:moveTo>
                  <a:pt x="0" y="0"/>
                </a:moveTo>
                <a:lnTo>
                  <a:pt x="184728" y="0"/>
                </a:lnTo>
                <a:lnTo>
                  <a:pt x="184728" y="669350"/>
                </a:lnTo>
                <a:lnTo>
                  <a:pt x="0" y="669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749" y="40356015"/>
            <a:ext cx="3095949" cy="2844613"/>
          </a:xfrm>
          <a:custGeom>
            <a:avLst/>
            <a:gdLst/>
            <a:ahLst/>
            <a:cxnLst/>
            <a:rect r="r" b="b" t="t" l="l"/>
            <a:pathLst>
              <a:path h="2844613" w="3095949">
                <a:moveTo>
                  <a:pt x="0" y="0"/>
                </a:moveTo>
                <a:lnTo>
                  <a:pt x="3095949" y="0"/>
                </a:lnTo>
                <a:lnTo>
                  <a:pt x="3095949" y="2844613"/>
                </a:lnTo>
                <a:lnTo>
                  <a:pt x="0" y="2844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355" y="33543421"/>
            <a:ext cx="13318798" cy="4176303"/>
          </a:xfrm>
          <a:custGeom>
            <a:avLst/>
            <a:gdLst/>
            <a:ahLst/>
            <a:cxnLst/>
            <a:rect r="r" b="b" t="t" l="l"/>
            <a:pathLst>
              <a:path h="4176303" w="13318798">
                <a:moveTo>
                  <a:pt x="0" y="0"/>
                </a:moveTo>
                <a:lnTo>
                  <a:pt x="13318798" y="0"/>
                </a:lnTo>
                <a:lnTo>
                  <a:pt x="13318798" y="4176303"/>
                </a:lnTo>
                <a:lnTo>
                  <a:pt x="0" y="41763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503" y="224800"/>
            <a:ext cx="28927425" cy="4301119"/>
          </a:xfrm>
          <a:custGeom>
            <a:avLst/>
            <a:gdLst/>
            <a:ahLst/>
            <a:cxnLst/>
            <a:rect r="r" b="b" t="t" l="l"/>
            <a:pathLst>
              <a:path h="4301119" w="28927425">
                <a:moveTo>
                  <a:pt x="0" y="0"/>
                </a:moveTo>
                <a:lnTo>
                  <a:pt x="28927425" y="0"/>
                </a:lnTo>
                <a:lnTo>
                  <a:pt x="28927425" y="4301118"/>
                </a:lnTo>
                <a:lnTo>
                  <a:pt x="0" y="43011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6269" y="4932797"/>
            <a:ext cx="27347266" cy="9797986"/>
          </a:xfrm>
          <a:custGeom>
            <a:avLst/>
            <a:gdLst/>
            <a:ahLst/>
            <a:cxnLst/>
            <a:rect r="r" b="b" t="t" l="l"/>
            <a:pathLst>
              <a:path h="9797986" w="27347266">
                <a:moveTo>
                  <a:pt x="0" y="0"/>
                </a:moveTo>
                <a:lnTo>
                  <a:pt x="27347265" y="0"/>
                </a:lnTo>
                <a:lnTo>
                  <a:pt x="27347265" y="9797987"/>
                </a:lnTo>
                <a:lnTo>
                  <a:pt x="0" y="9797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749" y="40356015"/>
            <a:ext cx="3095949" cy="2836688"/>
          </a:xfrm>
          <a:custGeom>
            <a:avLst/>
            <a:gdLst/>
            <a:ahLst/>
            <a:cxnLst/>
            <a:rect r="r" b="b" t="t" l="l"/>
            <a:pathLst>
              <a:path h="2836688" w="3095949">
                <a:moveTo>
                  <a:pt x="0" y="0"/>
                </a:moveTo>
                <a:lnTo>
                  <a:pt x="3095949" y="0"/>
                </a:lnTo>
                <a:lnTo>
                  <a:pt x="3095949" y="2836688"/>
                </a:lnTo>
                <a:lnTo>
                  <a:pt x="0" y="28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982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801749" y="40382742"/>
            <a:ext cx="2998670" cy="2817876"/>
          </a:xfrm>
          <a:custGeom>
            <a:avLst/>
            <a:gdLst/>
            <a:ahLst/>
            <a:cxnLst/>
            <a:rect r="r" b="b" t="t" l="l"/>
            <a:pathLst>
              <a:path h="2817876" w="2998670">
                <a:moveTo>
                  <a:pt x="0" y="0"/>
                </a:moveTo>
                <a:lnTo>
                  <a:pt x="2998670" y="0"/>
                </a:lnTo>
                <a:lnTo>
                  <a:pt x="2998670" y="2817876"/>
                </a:lnTo>
                <a:lnTo>
                  <a:pt x="0" y="28178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801749" y="40382742"/>
            <a:ext cx="2989145" cy="2809951"/>
          </a:xfrm>
          <a:custGeom>
            <a:avLst/>
            <a:gdLst/>
            <a:ahLst/>
            <a:cxnLst/>
            <a:rect r="r" b="b" t="t" l="l"/>
            <a:pathLst>
              <a:path h="2809951" w="2989145">
                <a:moveTo>
                  <a:pt x="0" y="0"/>
                </a:moveTo>
                <a:lnTo>
                  <a:pt x="2989145" y="0"/>
                </a:lnTo>
                <a:lnTo>
                  <a:pt x="2989145" y="2809952"/>
                </a:lnTo>
                <a:lnTo>
                  <a:pt x="0" y="28099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3573" b="-1052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66350" y="15123681"/>
            <a:ext cx="2252786" cy="1689583"/>
          </a:xfrm>
          <a:custGeom>
            <a:avLst/>
            <a:gdLst/>
            <a:ahLst/>
            <a:cxnLst/>
            <a:rect r="r" b="b" t="t" l="l"/>
            <a:pathLst>
              <a:path h="1689583" w="2252786">
                <a:moveTo>
                  <a:pt x="0" y="0"/>
                </a:moveTo>
                <a:lnTo>
                  <a:pt x="2252786" y="0"/>
                </a:lnTo>
                <a:lnTo>
                  <a:pt x="2252786" y="1689582"/>
                </a:lnTo>
                <a:lnTo>
                  <a:pt x="0" y="168958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2880" y="15830674"/>
            <a:ext cx="2252786" cy="1689583"/>
          </a:xfrm>
          <a:custGeom>
            <a:avLst/>
            <a:gdLst/>
            <a:ahLst/>
            <a:cxnLst/>
            <a:rect r="r" b="b" t="t" l="l"/>
            <a:pathLst>
              <a:path h="1689583" w="2252786">
                <a:moveTo>
                  <a:pt x="0" y="0"/>
                </a:moveTo>
                <a:lnTo>
                  <a:pt x="2252787" y="0"/>
                </a:lnTo>
                <a:lnTo>
                  <a:pt x="2252787" y="1689582"/>
                </a:lnTo>
                <a:lnTo>
                  <a:pt x="0" y="168958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93742" y="15027983"/>
            <a:ext cx="2090947" cy="2090947"/>
          </a:xfrm>
          <a:custGeom>
            <a:avLst/>
            <a:gdLst/>
            <a:ahLst/>
            <a:cxnLst/>
            <a:rect r="r" b="b" t="t" l="l"/>
            <a:pathLst>
              <a:path h="2090947" w="2090947">
                <a:moveTo>
                  <a:pt x="0" y="0"/>
                </a:moveTo>
                <a:lnTo>
                  <a:pt x="2090947" y="0"/>
                </a:lnTo>
                <a:lnTo>
                  <a:pt x="2090947" y="2090947"/>
                </a:lnTo>
                <a:lnTo>
                  <a:pt x="0" y="20909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64890" y="15629992"/>
            <a:ext cx="2090947" cy="2090947"/>
          </a:xfrm>
          <a:custGeom>
            <a:avLst/>
            <a:gdLst/>
            <a:ahLst/>
            <a:cxnLst/>
            <a:rect r="r" b="b" t="t" l="l"/>
            <a:pathLst>
              <a:path h="2090947" w="2090947">
                <a:moveTo>
                  <a:pt x="0" y="0"/>
                </a:moveTo>
                <a:lnTo>
                  <a:pt x="2090947" y="0"/>
                </a:lnTo>
                <a:lnTo>
                  <a:pt x="2090947" y="2090947"/>
                </a:lnTo>
                <a:lnTo>
                  <a:pt x="0" y="209094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689524" y="17355312"/>
            <a:ext cx="3206429" cy="1516790"/>
          </a:xfrm>
          <a:custGeom>
            <a:avLst/>
            <a:gdLst/>
            <a:ahLst/>
            <a:cxnLst/>
            <a:rect r="r" b="b" t="t" l="l"/>
            <a:pathLst>
              <a:path h="1516790" w="3206429">
                <a:moveTo>
                  <a:pt x="0" y="0"/>
                </a:moveTo>
                <a:lnTo>
                  <a:pt x="3206429" y="0"/>
                </a:lnTo>
                <a:lnTo>
                  <a:pt x="3206429" y="1516790"/>
                </a:lnTo>
                <a:lnTo>
                  <a:pt x="0" y="151679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32787" y="16073457"/>
            <a:ext cx="3206429" cy="1516790"/>
          </a:xfrm>
          <a:custGeom>
            <a:avLst/>
            <a:gdLst/>
            <a:ahLst/>
            <a:cxnLst/>
            <a:rect r="r" b="b" t="t" l="l"/>
            <a:pathLst>
              <a:path h="1516790" w="3206429">
                <a:moveTo>
                  <a:pt x="0" y="0"/>
                </a:moveTo>
                <a:lnTo>
                  <a:pt x="3206429" y="0"/>
                </a:lnTo>
                <a:lnTo>
                  <a:pt x="3206429" y="1516789"/>
                </a:lnTo>
                <a:lnTo>
                  <a:pt x="0" y="151678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435209" y="14412135"/>
            <a:ext cx="3244377" cy="3244377"/>
          </a:xfrm>
          <a:custGeom>
            <a:avLst/>
            <a:gdLst/>
            <a:ahLst/>
            <a:cxnLst/>
            <a:rect r="r" b="b" t="t" l="l"/>
            <a:pathLst>
              <a:path h="3244377" w="3244377">
                <a:moveTo>
                  <a:pt x="0" y="0"/>
                </a:moveTo>
                <a:lnTo>
                  <a:pt x="3244377" y="0"/>
                </a:lnTo>
                <a:lnTo>
                  <a:pt x="3244377" y="3244377"/>
                </a:lnTo>
                <a:lnTo>
                  <a:pt x="0" y="324437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50523" y="15243543"/>
            <a:ext cx="3244377" cy="3244377"/>
          </a:xfrm>
          <a:custGeom>
            <a:avLst/>
            <a:gdLst/>
            <a:ahLst/>
            <a:cxnLst/>
            <a:rect r="r" b="b" t="t" l="l"/>
            <a:pathLst>
              <a:path h="3244377" w="3244377">
                <a:moveTo>
                  <a:pt x="0" y="0"/>
                </a:moveTo>
                <a:lnTo>
                  <a:pt x="3244377" y="0"/>
                </a:lnTo>
                <a:lnTo>
                  <a:pt x="3244377" y="3244377"/>
                </a:lnTo>
                <a:lnTo>
                  <a:pt x="0" y="324437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25116" y="15726399"/>
            <a:ext cx="3244377" cy="1898132"/>
          </a:xfrm>
          <a:custGeom>
            <a:avLst/>
            <a:gdLst/>
            <a:ahLst/>
            <a:cxnLst/>
            <a:rect r="r" b="b" t="t" l="l"/>
            <a:pathLst>
              <a:path h="1898132" w="3244377">
                <a:moveTo>
                  <a:pt x="0" y="0"/>
                </a:moveTo>
                <a:lnTo>
                  <a:pt x="3244376" y="0"/>
                </a:lnTo>
                <a:lnTo>
                  <a:pt x="3244376" y="1898132"/>
                </a:lnTo>
                <a:lnTo>
                  <a:pt x="0" y="189813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99275" y="19269885"/>
            <a:ext cx="14947163" cy="6737795"/>
          </a:xfrm>
          <a:custGeom>
            <a:avLst/>
            <a:gdLst/>
            <a:ahLst/>
            <a:cxnLst/>
            <a:rect r="r" b="b" t="t" l="l"/>
            <a:pathLst>
              <a:path h="6737795" w="14947163">
                <a:moveTo>
                  <a:pt x="0" y="0"/>
                </a:moveTo>
                <a:lnTo>
                  <a:pt x="14947164" y="0"/>
                </a:lnTo>
                <a:lnTo>
                  <a:pt x="14947164" y="6737794"/>
                </a:lnTo>
                <a:lnTo>
                  <a:pt x="0" y="673779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2181439" y="15243543"/>
            <a:ext cx="1431922" cy="1431922"/>
          </a:xfrm>
          <a:custGeom>
            <a:avLst/>
            <a:gdLst/>
            <a:ahLst/>
            <a:cxnLst/>
            <a:rect r="r" b="b" t="t" l="l"/>
            <a:pathLst>
              <a:path h="1431922" w="1431922">
                <a:moveTo>
                  <a:pt x="0" y="0"/>
                </a:moveTo>
                <a:lnTo>
                  <a:pt x="1431922" y="0"/>
                </a:lnTo>
                <a:lnTo>
                  <a:pt x="1431922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146311" y="16224590"/>
            <a:ext cx="1431922" cy="1431922"/>
          </a:xfrm>
          <a:custGeom>
            <a:avLst/>
            <a:gdLst/>
            <a:ahLst/>
            <a:cxnLst/>
            <a:rect r="r" b="b" t="t" l="l"/>
            <a:pathLst>
              <a:path h="1431922" w="1431922">
                <a:moveTo>
                  <a:pt x="0" y="0"/>
                </a:moveTo>
                <a:lnTo>
                  <a:pt x="1431922" y="0"/>
                </a:lnTo>
                <a:lnTo>
                  <a:pt x="1431922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222518" y="17396851"/>
            <a:ext cx="4010339" cy="1622936"/>
          </a:xfrm>
          <a:custGeom>
            <a:avLst/>
            <a:gdLst/>
            <a:ahLst/>
            <a:cxnLst/>
            <a:rect r="r" b="b" t="t" l="l"/>
            <a:pathLst>
              <a:path h="1622936" w="4010339">
                <a:moveTo>
                  <a:pt x="0" y="0"/>
                </a:moveTo>
                <a:lnTo>
                  <a:pt x="4010339" y="0"/>
                </a:lnTo>
                <a:lnTo>
                  <a:pt x="4010339" y="1622936"/>
                </a:lnTo>
                <a:lnTo>
                  <a:pt x="0" y="1622936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024966" y="16098002"/>
            <a:ext cx="4010339" cy="1622936"/>
          </a:xfrm>
          <a:custGeom>
            <a:avLst/>
            <a:gdLst/>
            <a:ahLst/>
            <a:cxnLst/>
            <a:rect r="r" b="b" t="t" l="l"/>
            <a:pathLst>
              <a:path h="1622936" w="4010339">
                <a:moveTo>
                  <a:pt x="0" y="0"/>
                </a:moveTo>
                <a:lnTo>
                  <a:pt x="4010339" y="0"/>
                </a:lnTo>
                <a:lnTo>
                  <a:pt x="4010339" y="1622937"/>
                </a:lnTo>
                <a:lnTo>
                  <a:pt x="0" y="162293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4407784" y="15965443"/>
            <a:ext cx="2100062" cy="2100062"/>
          </a:xfrm>
          <a:custGeom>
            <a:avLst/>
            <a:gdLst/>
            <a:ahLst/>
            <a:cxnLst/>
            <a:rect r="r" b="b" t="t" l="l"/>
            <a:pathLst>
              <a:path h="2100062" w="2100062">
                <a:moveTo>
                  <a:pt x="0" y="0"/>
                </a:moveTo>
                <a:lnTo>
                  <a:pt x="2100062" y="0"/>
                </a:lnTo>
                <a:lnTo>
                  <a:pt x="2100062" y="2100063"/>
                </a:lnTo>
                <a:lnTo>
                  <a:pt x="0" y="210006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4856064" y="15763232"/>
            <a:ext cx="2100062" cy="2100062"/>
          </a:xfrm>
          <a:custGeom>
            <a:avLst/>
            <a:gdLst/>
            <a:ahLst/>
            <a:cxnLst/>
            <a:rect r="r" b="b" t="t" l="l"/>
            <a:pathLst>
              <a:path h="2100062" w="2100062">
                <a:moveTo>
                  <a:pt x="0" y="0"/>
                </a:moveTo>
                <a:lnTo>
                  <a:pt x="2100062" y="0"/>
                </a:lnTo>
                <a:lnTo>
                  <a:pt x="2100062" y="2100063"/>
                </a:lnTo>
                <a:lnTo>
                  <a:pt x="0" y="210006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81827" y="25541514"/>
            <a:ext cx="12412258" cy="5873182"/>
          </a:xfrm>
          <a:custGeom>
            <a:avLst/>
            <a:gdLst/>
            <a:ahLst/>
            <a:cxnLst/>
            <a:rect r="r" b="b" t="t" l="l"/>
            <a:pathLst>
              <a:path h="5873182" w="12412258">
                <a:moveTo>
                  <a:pt x="0" y="0"/>
                </a:moveTo>
                <a:lnTo>
                  <a:pt x="12412258" y="0"/>
                </a:lnTo>
                <a:lnTo>
                  <a:pt x="12412258" y="5873182"/>
                </a:lnTo>
                <a:lnTo>
                  <a:pt x="0" y="5873182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-2864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81827" y="18771111"/>
            <a:ext cx="12513240" cy="5658405"/>
          </a:xfrm>
          <a:custGeom>
            <a:avLst/>
            <a:gdLst/>
            <a:ahLst/>
            <a:cxnLst/>
            <a:rect r="r" b="b" t="t" l="l"/>
            <a:pathLst>
              <a:path h="5658405" w="12513240">
                <a:moveTo>
                  <a:pt x="0" y="0"/>
                </a:moveTo>
                <a:lnTo>
                  <a:pt x="12513240" y="0"/>
                </a:lnTo>
                <a:lnTo>
                  <a:pt x="12513240" y="5658406"/>
                </a:lnTo>
                <a:lnTo>
                  <a:pt x="0" y="5658406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-1974" t="0" r="-2579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778757" y="25050659"/>
            <a:ext cx="14366374" cy="7147725"/>
          </a:xfrm>
          <a:custGeom>
            <a:avLst/>
            <a:gdLst/>
            <a:ahLst/>
            <a:cxnLst/>
            <a:rect r="r" b="b" t="t" l="l"/>
            <a:pathLst>
              <a:path h="7147725" w="14366374">
                <a:moveTo>
                  <a:pt x="0" y="0"/>
                </a:moveTo>
                <a:lnTo>
                  <a:pt x="14366374" y="0"/>
                </a:lnTo>
                <a:lnTo>
                  <a:pt x="14366374" y="7147725"/>
                </a:lnTo>
                <a:lnTo>
                  <a:pt x="0" y="71477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-3115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02989" y="18065506"/>
            <a:ext cx="14403046" cy="6679412"/>
          </a:xfrm>
          <a:custGeom>
            <a:avLst/>
            <a:gdLst/>
            <a:ahLst/>
            <a:cxnLst/>
            <a:rect r="r" b="b" t="t" l="l"/>
            <a:pathLst>
              <a:path h="6679412" w="14403046">
                <a:moveTo>
                  <a:pt x="0" y="0"/>
                </a:moveTo>
                <a:lnTo>
                  <a:pt x="14403045" y="0"/>
                </a:lnTo>
                <a:lnTo>
                  <a:pt x="14403045" y="6679412"/>
                </a:lnTo>
                <a:lnTo>
                  <a:pt x="0" y="667941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878455" y="13695489"/>
            <a:ext cx="3121387" cy="1332494"/>
          </a:xfrm>
          <a:custGeom>
            <a:avLst/>
            <a:gdLst/>
            <a:ahLst/>
            <a:cxnLst/>
            <a:rect r="r" b="b" t="t" l="l"/>
            <a:pathLst>
              <a:path h="1332494" w="3121387">
                <a:moveTo>
                  <a:pt x="0" y="0"/>
                </a:moveTo>
                <a:lnTo>
                  <a:pt x="3121387" y="0"/>
                </a:lnTo>
                <a:lnTo>
                  <a:pt x="3121387" y="1332494"/>
                </a:lnTo>
                <a:lnTo>
                  <a:pt x="0" y="133249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-21749" r="0" b="-10016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329485" y="2651131"/>
            <a:ext cx="18413006" cy="74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b="true" sz="37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Bruno Ribeiro; Gabriel Davanço; Guilherme Melo; Kauan Rocha; Ricardo Liyudi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54017" y="3369059"/>
            <a:ext cx="95660" cy="67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8"/>
              </a:lnSpc>
            </a:pP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38290" y="32933021"/>
            <a:ext cx="60998" cy="39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17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354290" y="5570696"/>
            <a:ext cx="86116" cy="55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86903" y="13982121"/>
            <a:ext cx="12235615" cy="13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b="true" sz="58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Imagens e ferramentas do Projeto</a:t>
            </a:r>
          </a:p>
          <a:p>
            <a:pPr algn="l">
              <a:lnSpc>
                <a:spcPts val="5401"/>
              </a:lnSpc>
            </a:pPr>
            <a:r>
              <a:rPr lang="en-US" sz="37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32837" y="440061"/>
            <a:ext cx="17508512" cy="137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b="true" sz="7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Semana de Tecnologia FECAP 2025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85272" y="3578609"/>
            <a:ext cx="12076671" cy="46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Professores: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Eduardo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Savino;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Lucy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Mari;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Mauricio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Lopes;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Rodnil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</a:t>
            </a:r>
            <a:r>
              <a:rPr lang="en-US" b="true" sz="266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6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Silva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2880" y="24837304"/>
            <a:ext cx="3004156" cy="31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1721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Dashboard Executivo - CEO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46047" y="32281085"/>
            <a:ext cx="592191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Dados Detalhados por nome da loja e Registros Detalhados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1336" y="5656421"/>
            <a:ext cx="12412258" cy="755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👥 Sobre a equipe</a:t>
            </a: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Bruno – Dev. Fullstack, foco em Banco de Dados e Frontend; apoio em Contabilidade e Finanças.</a:t>
            </a: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Gabriel – Dev. Fullstack, foco em Frontend e Estatística Inferencial; contribuiu em Engenharia de Software.</a:t>
            </a: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Guilherme – Responsável pelo Backend; tratamento e integração dos dados simulados; apoio em Ciência de Dados.</a:t>
            </a: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Kauan – Responsável pelo Frontend e Design de Interface; apoio em Contabilidade e Finanças.</a:t>
            </a:r>
          </a:p>
          <a:p>
            <a:pPr algn="l" marL="529352" indent="-264676" lvl="1">
              <a:lnSpc>
                <a:spcPts val="4016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Ricardo – Definição de indicadores estratégicos e financeiros; apoio em Engenharia de Software.</a:t>
            </a:r>
          </a:p>
          <a:p>
            <a:pPr algn="l">
              <a:lnSpc>
                <a:spcPts val="4016"/>
              </a:lnSpc>
            </a:pPr>
            <a:r>
              <a:rPr lang="en-US" sz="245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Equipe multidisciplinar, alinhando design, análise de dados e objetivos de negócio.</a:t>
            </a:r>
          </a:p>
          <a:p>
            <a:pPr algn="l">
              <a:lnSpc>
                <a:spcPts val="4016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3746047" y="5831655"/>
            <a:ext cx="13598339" cy="654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3"/>
              </a:lnSpc>
            </a:pPr>
            <a:r>
              <a:rPr lang="en-US" sz="24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🎯 Problema a ser tratado</a:t>
            </a:r>
          </a:p>
          <a:p>
            <a:pPr algn="l">
              <a:lnSpc>
                <a:spcPts val="4013"/>
              </a:lnSpc>
            </a:pPr>
          </a:p>
          <a:p>
            <a:pPr algn="l" marL="528956" indent="-264478" lvl="1">
              <a:lnSpc>
                <a:spcPts val="4013"/>
              </a:lnSpc>
              <a:buFont typeface="Arial"/>
              <a:buChar char="•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PicMoney quer lançar um app com realidade aumentada para cupons, mas hoje enfrenta: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Falta de um ambiente unificado de análise de dados;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Métricas dispersas e difíceis de interpretar;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Baixa visibilidade de campanhas e parcerias;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Dificuldade em projetar resultados e apoiar a decisão executiva.</a:t>
            </a:r>
          </a:p>
          <a:p>
            <a:pPr algn="l" marL="528956" indent="-264478" lvl="1">
              <a:lnSpc>
                <a:spcPts val="4013"/>
              </a:lnSpc>
              <a:buFont typeface="Arial"/>
              <a:buChar char="•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Contexto de mercado (dados citados):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60% das startups têm dificuldade na coleta de dados nos primeiros anos;</a:t>
            </a:r>
          </a:p>
          <a:p>
            <a:pPr algn="l" marL="1057911" indent="-352637" lvl="2">
              <a:lnSpc>
                <a:spcPts val="4013"/>
              </a:lnSpc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70% das empresas são surpreendidas por mudanças estratégicas por não usarem bem os dados.</a:t>
            </a:r>
          </a:p>
          <a:p>
            <a:pPr algn="ctr">
              <a:lnSpc>
                <a:spcPts val="4013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4217510" y="33035567"/>
            <a:ext cx="11584238" cy="654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3"/>
              </a:lnSpc>
            </a:pPr>
            <a:r>
              <a:rPr lang="en-US" sz="24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🧩 Solução proposta</a:t>
            </a:r>
          </a:p>
          <a:p>
            <a:pPr algn="l" marL="528956" indent="-264478" lvl="1">
              <a:lnSpc>
                <a:spcPts val="401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Des</a:t>
            </a: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envolvimento de um Dashboard Interativo para centralizar dados estratégicos da PicMoney.</a:t>
            </a:r>
          </a:p>
          <a:p>
            <a:pPr algn="l" marL="528956" indent="-264478" lvl="1">
              <a:lnSpc>
                <a:spcPts val="401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Tradução de métricas operacionais e financeiras em visualizações para tomada de decisão.</a:t>
            </a:r>
          </a:p>
          <a:p>
            <a:pPr algn="l" marL="528956" indent="-264478" lvl="1">
              <a:lnSpc>
                <a:spcPts val="401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Ferramenta já antecipa o lançamento do app, permitindo que CEO e CFO:</a:t>
            </a:r>
          </a:p>
          <a:p>
            <a:pPr algn="l" marL="1057911" indent="-352637" lvl="2">
              <a:lnSpc>
                <a:spcPts val="401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Visualizem KPIs por perfil (financeiro x operacional);</a:t>
            </a:r>
          </a:p>
          <a:p>
            <a:pPr algn="l" marL="1057911" indent="-352637" lvl="2">
              <a:lnSpc>
                <a:spcPts val="401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Usem filtros dinâmicos por período, parceiro e campanha;</a:t>
            </a:r>
          </a:p>
          <a:p>
            <a:pPr algn="l" marL="1057911" indent="-352637" lvl="2">
              <a:lnSpc>
                <a:spcPts val="401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Recebam alertas inteligentes para valores fora do padrão;</a:t>
            </a:r>
          </a:p>
          <a:p>
            <a:pPr algn="l" marL="1057911" indent="-352637" lvl="2">
              <a:lnSpc>
                <a:spcPts val="401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Analise em mapas de calor e gráficos interativos;</a:t>
            </a:r>
          </a:p>
          <a:p>
            <a:pPr algn="l" marL="1057911" indent="-352637" lvl="2">
              <a:lnSpc>
                <a:spcPts val="401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Exportem relatórios e simulem projeções financeiras.</a:t>
            </a:r>
          </a:p>
          <a:p>
            <a:pPr algn="l">
              <a:lnSpc>
                <a:spcPts val="4013"/>
              </a:lnSpc>
              <a:spcBef>
                <a:spcPct val="0"/>
              </a:spcBef>
            </a:pPr>
            <a:r>
              <a:rPr lang="en-US" b="true" sz="245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PicStats como “ponte” entre dados brutos e decisão executiva.</a:t>
            </a:r>
          </a:p>
          <a:p>
            <a:pPr algn="l">
              <a:lnSpc>
                <a:spcPts val="4013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31336" y="32397608"/>
            <a:ext cx="13217817" cy="83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6"/>
              </a:lnSpc>
            </a:pPr>
            <a:r>
              <a:rPr lang="en-US" sz="2397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🚀 Futuro do projeto</a:t>
            </a:r>
          </a:p>
          <a:p>
            <a:pPr algn="just" marL="517689" indent="-258845" lvl="1">
              <a:lnSpc>
                <a:spcPts val="3356"/>
              </a:lnSpc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Integração com dados reais da PicMoney (substituindo dados simulados).</a:t>
            </a:r>
          </a:p>
          <a:p>
            <a:pPr algn="just" marL="517689" indent="-258845" lvl="1">
              <a:lnSpc>
                <a:spcPts val="3356"/>
              </a:lnSpc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Autenticação por níveis de acesso (CEO, CFO, gestores, etc.).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Implementação de uma IA de assessoria </a:t>
            </a: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executiva para: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Gerar insights automáticos;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Fazer previsões financeiras;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Recomendar estratégias com base no histórico.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Segurança avançada com IA e Blockchain: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Criptografia assimétrica;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Monitoramento preditivo de ameaças.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Versão mobile dedicada (Android e iOS).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Investimento estimado: R$ 20.000,00.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Recursos necessários: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Servidores em nuvem (AWS/Azure);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APIs reais da PicMoney;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Integração de IA (OpenAI/TensorFlow);</a:t>
            </a:r>
          </a:p>
          <a:p>
            <a:pPr algn="just" marL="1035378" indent="-345126" lvl="2">
              <a:lnSpc>
                <a:spcPts val="335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Módulos de segurança (HashiCorp Vault, OWASP).</a:t>
            </a:r>
          </a:p>
          <a:p>
            <a:pPr algn="just" marL="517689" indent="-258845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Objetivo final: transformar o protótipo acadêmico em uma solução corporativa escalável, segura e orientada por dados.</a:t>
            </a:r>
          </a:p>
          <a:p>
            <a:pPr algn="ctr">
              <a:lnSpc>
                <a:spcPts val="3356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731336" y="31671634"/>
            <a:ext cx="4256791" cy="31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1721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Dashboard Financeiro de Cupons - CFO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02989" y="24722364"/>
            <a:ext cx="3388719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7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Parcerias por loja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34680" y="1676178"/>
            <a:ext cx="2996213" cy="10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2"/>
              </a:lnSpc>
            </a:pPr>
            <a:r>
              <a:rPr lang="en-US" b="true" sz="586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PicStats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DAG4nhdDip8</dc:identifier>
  <dcterms:modified xsi:type="dcterms:W3CDTF">2011-08-01T06:04:30Z</dcterms:modified>
  <cp:revision>1</cp:revision>
  <dc:title>Banner_PI_80x120_2025_2[1].pptx.pdf</dc:title>
</cp:coreProperties>
</file>